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外委占比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BEAFE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外委部分</c:v>
                </c:pt>
                <c:pt idx="1">
                  <c:v>自研部分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19</c:v>
                </c:pt>
                <c:pt idx="1">
                  <c:v>81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费用(万元)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人工费</c:v>
                  </c:pt>
                  <c:pt idx="1">
                    <c:v>测试化验
加工费</c:v>
                  </c:pt>
                  <c:pt idx="2">
                    <c:v>会议
差旅费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68.5</c:v>
                </c:pt>
                <c:pt idx="1">
                  <c:v>20</c:v>
                </c:pt>
                <c:pt idx="2">
                  <c:v>1.5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项目任务外委情况分析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ANALYSIS OF PROJECT TASK OUTSOURCING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685800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6858000" cy="502920"/>
          </a:xfrm>
          <a:prstGeom prst="roundRect">
            <a:avLst>
              <a:gd name="adj" fmla="val 21818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68580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05156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任务1：基于多源数据的负荷特性解析与多维画像技术研究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83080"/>
            <a:ext cx="155448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91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是否外委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全部外委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核心能力保留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94560" y="16459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4560" y="1783080"/>
            <a:ext cx="155448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1691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外委费用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¥90万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286000" y="23317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占总预算 19%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0" y="16459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0" y="1783080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1691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外委占比分析</a:t>
            </a:r>
            <a:endParaRPr lang="en-US" sz="9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977640" y="1783080"/>
          <a:ext cx="10972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5120640" y="1828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19%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669280" y="1874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外委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120640" y="21488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81%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669280" y="21945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" y="2697480"/>
            <a:ext cx="649224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05840" y="2743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外委原因：研发技术不足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05840" y="2971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核心能力外委：否（已确保关键技术自主掌握）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4864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外委内容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48640" y="370332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/>
        </p:spPr>
      </p:sp>
      <p:sp>
        <p:nvSpPr>
          <p:cNvPr id="33" name="Text 30"/>
          <p:cNvSpPr/>
          <p:nvPr/>
        </p:nvSpPr>
        <p:spPr>
          <a:xfrm>
            <a:off x="640080" y="3749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建立多维资源画像指标体系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74904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合作单位标准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749040" y="370332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/>
        </p:spPr>
      </p:sp>
      <p:sp>
        <p:nvSpPr>
          <p:cNvPr id="36" name="Text 33"/>
          <p:cNvSpPr/>
          <p:nvPr/>
        </p:nvSpPr>
        <p:spPr>
          <a:xfrm>
            <a:off x="3840480" y="3749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具备多类型负荷分析和AI创新研发能力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4864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外委经费测算依据</a:t>
            </a:r>
            <a:endParaRPr lang="en-US" sz="1200" dirty="0"/>
          </a:p>
        </p:txBody>
      </p:sp>
      <p:graphicFrame>
        <p:nvGraphicFramePr>
          <p:cNvPr id="38" name="Chart 1" descr=""/>
          <p:cNvGraphicFramePr/>
          <p:nvPr/>
        </p:nvGraphicFramePr>
        <p:xfrm>
          <a:off x="548640" y="4572000"/>
          <a:ext cx="320040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9" name="Shape 35"/>
          <p:cNvSpPr/>
          <p:nvPr/>
        </p:nvSpPr>
        <p:spPr>
          <a:xfrm>
            <a:off x="3931920" y="452628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FEF3C7"/>
          </a:solidFill>
          <a:ln/>
        </p:spPr>
      </p:sp>
      <p:sp>
        <p:nvSpPr>
          <p:cNvPr id="40" name="Text 36"/>
          <p:cNvSpPr/>
          <p:nvPr/>
        </p:nvSpPr>
        <p:spPr>
          <a:xfrm>
            <a:off x="4069080" y="4572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经费构成明细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4069080" y="48006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人工费：68.5万 (76%)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数据收集整理：20万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数据收集整理：30万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测试化验加工费：18.5万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测试化验加工费：20万 (22%)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会议差旅费：1.5万 (2%)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7406640" y="100584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406640" y="100584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44" name="Shape 40"/>
          <p:cNvSpPr/>
          <p:nvPr/>
        </p:nvSpPr>
        <p:spPr>
          <a:xfrm>
            <a:off x="7406640" y="1234440"/>
            <a:ext cx="402336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543800" y="1051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7863840" y="10515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任务2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7543800" y="15544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机理与数据融合驱动的多类型负荷高保真仿真建模技术研究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7635240" y="228600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/>
        </p:spPr>
      </p:sp>
      <p:sp>
        <p:nvSpPr>
          <p:cNvPr id="49" name="Text 45"/>
          <p:cNvSpPr/>
          <p:nvPr/>
        </p:nvSpPr>
        <p:spPr>
          <a:xfrm>
            <a:off x="7635240" y="2286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不外委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7543800" y="2788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自主研发，掌握核心建模技术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7406640" y="347472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406640" y="347472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53" name="Shape 49"/>
          <p:cNvSpPr/>
          <p:nvPr/>
        </p:nvSpPr>
        <p:spPr>
          <a:xfrm>
            <a:off x="7406640" y="3703320"/>
            <a:ext cx="4023360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754380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55" name="Text 51"/>
          <p:cNvSpPr/>
          <p:nvPr/>
        </p:nvSpPr>
        <p:spPr>
          <a:xfrm>
            <a:off x="7863840" y="3520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任务3</a:t>
            </a:r>
            <a:endParaRPr lang="en-US" sz="1200" dirty="0"/>
          </a:p>
        </p:txBody>
      </p:sp>
      <p:sp>
        <p:nvSpPr>
          <p:cNvPr id="56" name="Text 52"/>
          <p:cNvSpPr/>
          <p:nvPr/>
        </p:nvSpPr>
        <p:spPr>
          <a:xfrm>
            <a:off x="7543800" y="4023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面向多市场的市场化交易支撑策略研究</a:t>
            </a:r>
            <a:endParaRPr lang="en-US" sz="1100" dirty="0"/>
          </a:p>
        </p:txBody>
      </p:sp>
      <p:sp>
        <p:nvSpPr>
          <p:cNvPr id="57" name="Shape 53"/>
          <p:cNvSpPr/>
          <p:nvPr/>
        </p:nvSpPr>
        <p:spPr>
          <a:xfrm>
            <a:off x="7635240" y="457200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/>
        </p:spPr>
      </p:sp>
      <p:sp>
        <p:nvSpPr>
          <p:cNvPr id="58" name="Text 54"/>
          <p:cNvSpPr/>
          <p:nvPr/>
        </p:nvSpPr>
        <p:spPr>
          <a:xfrm>
            <a:off x="7635240" y="4572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不外委</a:t>
            </a:r>
            <a:endParaRPr lang="en-US" sz="1200" dirty="0"/>
          </a:p>
        </p:txBody>
      </p:sp>
      <p:sp>
        <p:nvSpPr>
          <p:cNvPr id="59" name="Text 55"/>
          <p:cNvSpPr/>
          <p:nvPr/>
        </p:nvSpPr>
        <p:spPr>
          <a:xfrm>
            <a:off x="7543800" y="5074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自主研究，确保战略自主可控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2026-05-11T08:20:55Z</dcterms:created>
  <dcterms:modified xsi:type="dcterms:W3CDTF">2026-05-11T08:20:55Z</dcterms:modified>
</cp:coreProperties>
</file>