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97280"/>
            <a:ext cx="11274552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科技项目全流程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AI应用实践与心得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电网科创业务中心 · 从申报到交付的智能化升级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4572000"/>
            <a:ext cx="11274552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0292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AI知识生产基础库 → WorkBuddy × IMA 联动方案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" y="13716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14632" y="13716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" y="658368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14632" y="658368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4552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汇报目录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474720" cy="1554480"/>
          </a:xfrm>
          <a:prstGeom prst="rect">
            <a:avLst>
              <a:gd name="adj" fmla="val 4706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155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AI知识生产基础库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6459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双路径学术知识采集架构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005840"/>
            <a:ext cx="3474720" cy="1554480"/>
          </a:xfrm>
          <a:prstGeom prst="rect">
            <a:avLst>
              <a:gd name="adj" fmla="val 4706"/>
            </a:avLst>
          </a:prstGeom>
          <a:solidFill>
            <a:srgbClr val="0F1B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1155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学术文献智能流转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34840" y="16459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从人工到智能的全流程闭环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005840"/>
            <a:ext cx="3474720" cy="1554480"/>
          </a:xfrm>
          <a:prstGeom prst="rect">
            <a:avLst>
              <a:gd name="adj" fmla="val 4706"/>
            </a:avLst>
          </a:prstGeom>
          <a:solidFill>
            <a:srgbClr val="0F1B2E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11155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77824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全流程概览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83880" y="16459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5大环节AI应用全景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834640"/>
            <a:ext cx="3474720" cy="1554480"/>
          </a:xfrm>
          <a:prstGeom prst="rect">
            <a:avLst>
              <a:gd name="adj" fmla="val 4706"/>
            </a:avLst>
          </a:prstGeom>
          <a:solidFill>
            <a:srgbClr val="0F1B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9443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80160" y="2971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申报简表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34747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AI辅助框架与会议流程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97680" y="2834640"/>
            <a:ext cx="3474720" cy="1554480"/>
          </a:xfrm>
          <a:prstGeom prst="rect">
            <a:avLst>
              <a:gd name="adj" fmla="val 4706"/>
            </a:avLst>
          </a:prstGeom>
          <a:solidFill>
            <a:srgbClr val="0F1B2E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29443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29200" y="2971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指南编写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34840" y="34747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政策对齐与智能生成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46720" y="2834640"/>
            <a:ext cx="3474720" cy="1554480"/>
          </a:xfrm>
          <a:prstGeom prst="rect">
            <a:avLst>
              <a:gd name="adj" fmla="val 4706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3880" y="29443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778240" y="2971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可研报告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183880" y="34747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全量自动化生成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663440"/>
            <a:ext cx="3474720" cy="1554480"/>
          </a:xfrm>
          <a:prstGeom prst="rect">
            <a:avLst>
              <a:gd name="adj" fmla="val 4706"/>
            </a:avLst>
          </a:prstGeom>
          <a:solidFill>
            <a:srgbClr val="0F1B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773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280160" y="4800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技术研究报告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5800" y="53035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深度生成与知识沉淀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297680" y="4663440"/>
            <a:ext cx="3474720" cy="1554480"/>
          </a:xfrm>
          <a:prstGeom prst="rect">
            <a:avLst>
              <a:gd name="adj" fmla="val 4706"/>
            </a:avLst>
          </a:prstGeom>
          <a:solidFill>
            <a:srgbClr val="0F1B2E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4773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029200" y="4800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Demo原型设计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34840" y="53035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代码生成与可视化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046720" y="4663440"/>
            <a:ext cx="3474720" cy="1554480"/>
          </a:xfrm>
          <a:prstGeom prst="rect">
            <a:avLst>
              <a:gd name="adj" fmla="val 4706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83880" y="4773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8778240" y="4800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成果·心得·展望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183880" y="53035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量化数据与实践总结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37160" y="13716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914632" y="13716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" y="658368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914632" y="658368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4552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AI知识生产基础库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所有工作的核心基础 · 双路径学术知识采集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1274552" cy="411480"/>
          </a:xfrm>
          <a:prstGeom prst="rect">
            <a:avLst>
              <a:gd name="adj" fmla="val 17778"/>
            </a:avLst>
          </a:prstGeom>
          <a:solidFill>
            <a:srgbClr val="16244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1440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中国科技云学术智能体平台爬取方案验证通过，可稳定获取论文摘要、关键词、URL等结构化元数据；同步完成Bing学术爬取可行性确认，构建多源学术知识采集双路径。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303520" cy="2011680"/>
          </a:xfrm>
          <a:prstGeom prst="rect">
            <a:avLst>
              <a:gd name="adj" fmla="val 3636"/>
            </a:avLst>
          </a:prstGeom>
          <a:solidFill>
            <a:srgbClr val="0F1B2E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63040"/>
            <a:ext cx="5303520" cy="41148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087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路径一：中国科技云学术智能体平台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057400"/>
            <a:ext cx="914400" cy="640080"/>
          </a:xfrm>
          <a:prstGeom prst="rect">
            <a:avLst>
              <a:gd name="adj" fmla="val 8571"/>
            </a:avLst>
          </a:prstGeom>
          <a:solidFill>
            <a:srgbClr val="1E3A5F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103120"/>
            <a:ext cx="768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学术智能体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爬取入口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45920" y="2377440"/>
            <a:ext cx="109728" cy="0"/>
          </a:xfrm>
          <a:prstGeom prst="line">
            <a:avLst/>
          </a:prstGeom>
          <a:noFill/>
          <a:ln w="31750">
            <a:solidFill>
              <a:srgbClr val="D4A84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00784" y="2322576"/>
            <a:ext cx="109728" cy="109728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55648" y="2057400"/>
            <a:ext cx="914400" cy="640080"/>
          </a:xfrm>
          <a:prstGeom prst="rect">
            <a:avLst>
              <a:gd name="adj" fmla="val 8571"/>
            </a:avLst>
          </a:prstGeom>
          <a:solidFill>
            <a:srgbClr val="3B82F6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2103120"/>
            <a:ext cx="768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论文摘要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关键词提取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70048" y="2377440"/>
            <a:ext cx="109728" cy="0"/>
          </a:xfrm>
          <a:prstGeom prst="line">
            <a:avLst/>
          </a:prstGeom>
          <a:noFill/>
          <a:ln w="31750">
            <a:solidFill>
              <a:srgbClr val="D4A84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24912" y="2322576"/>
            <a:ext cx="109728" cy="109728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79776" y="2057400"/>
            <a:ext cx="914400" cy="640080"/>
          </a:xfrm>
          <a:prstGeom prst="rect">
            <a:avLst>
              <a:gd name="adj" fmla="val 8571"/>
            </a:avLst>
          </a:prstGeom>
          <a:solidFill>
            <a:srgbClr val="3B82F6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52928" y="2103120"/>
            <a:ext cx="768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URL/DOI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结构化处理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94176" y="2377440"/>
            <a:ext cx="109728" cy="0"/>
          </a:xfrm>
          <a:prstGeom prst="line">
            <a:avLst/>
          </a:prstGeom>
          <a:noFill/>
          <a:ln w="31750">
            <a:solidFill>
              <a:srgbClr val="D4A84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49040" y="2322576"/>
            <a:ext cx="109728" cy="109728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03904" y="2057400"/>
            <a:ext cx="914400" cy="640080"/>
          </a:xfrm>
          <a:prstGeom prst="rect">
            <a:avLst>
              <a:gd name="adj" fmla="val 8571"/>
            </a:avLst>
          </a:prstGeom>
          <a:solidFill>
            <a:srgbClr val="0D9488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77056" y="2103120"/>
            <a:ext cx="768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元数据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清洗归一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18304" y="2377440"/>
            <a:ext cx="109728" cy="0"/>
          </a:xfrm>
          <a:prstGeom prst="line">
            <a:avLst/>
          </a:prstGeom>
          <a:noFill/>
          <a:ln w="31750">
            <a:solidFill>
              <a:srgbClr val="D4A84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73168" y="2322576"/>
            <a:ext cx="109728" cy="109728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28032" y="2057400"/>
            <a:ext cx="914400" cy="640080"/>
          </a:xfrm>
          <a:prstGeom prst="rect">
            <a:avLst>
              <a:gd name="adj" fmla="val 8571"/>
            </a:avLst>
          </a:prstGeom>
          <a:solidFill>
            <a:srgbClr val="22C55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01184" y="2103120"/>
            <a:ext cx="768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IMA知识库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自动注入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2834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核心能力：论文摘要提取 | 关键词识别 | DOI关联 | 元数据结构化 | 自动入库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154680"/>
            <a:ext cx="4937760" cy="256032"/>
          </a:xfrm>
          <a:prstGeom prst="rect">
            <a:avLst>
              <a:gd name="adj" fmla="val 14286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172968"/>
            <a:ext cx="493776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状态：已验证通过，稳定运行中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1463040"/>
            <a:ext cx="5303520" cy="2011680"/>
          </a:xfrm>
          <a:prstGeom prst="rect">
            <a:avLst>
              <a:gd name="adj" fmla="val 3636"/>
            </a:avLst>
          </a:prstGeom>
          <a:solidFill>
            <a:srgbClr val="0F1B2E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1463040"/>
            <a:ext cx="530352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15087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路径二：Bing学术搜索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00800" y="2057400"/>
            <a:ext cx="914400" cy="640080"/>
          </a:xfrm>
          <a:prstGeom prst="rect">
            <a:avLst>
              <a:gd name="adj" fmla="val 8571"/>
            </a:avLst>
          </a:prstGeom>
          <a:solidFill>
            <a:srgbClr val="1E3A5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73952" y="2103120"/>
            <a:ext cx="768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Bing学术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检索入口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315200" y="2377440"/>
            <a:ext cx="109728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70064" y="2322576"/>
            <a:ext cx="109728" cy="109728"/>
          </a:xfrm>
          <a:prstGeom prst="rect">
            <a:avLst/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24928" y="2057400"/>
            <a:ext cx="914400" cy="640080"/>
          </a:xfrm>
          <a:prstGeom prst="rect">
            <a:avLst>
              <a:gd name="adj" fmla="val 8571"/>
            </a:avLst>
          </a:prstGeom>
          <a:solidFill>
            <a:srgbClr val="3B82F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0" y="2103120"/>
            <a:ext cx="768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英文文献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摘要抓取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339328" y="2377440"/>
            <a:ext cx="109728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94192" y="2322576"/>
            <a:ext cx="109728" cy="109728"/>
          </a:xfrm>
          <a:prstGeom prst="rect">
            <a:avLst/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449056" y="2057400"/>
            <a:ext cx="914400" cy="640080"/>
          </a:xfrm>
          <a:prstGeom prst="rect">
            <a:avLst>
              <a:gd name="adj" fmla="val 8571"/>
            </a:avLst>
          </a:prstGeom>
          <a:solidFill>
            <a:srgbClr val="A78BF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22208" y="2103120"/>
            <a:ext cx="768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跨语言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翻译融合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363456" y="2377440"/>
            <a:ext cx="109728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418320" y="2322576"/>
            <a:ext cx="109728" cy="109728"/>
          </a:xfrm>
          <a:prstGeom prst="rect">
            <a:avLst/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473184" y="2057400"/>
            <a:ext cx="914400" cy="640080"/>
          </a:xfrm>
          <a:prstGeom prst="rect">
            <a:avLst>
              <a:gd name="adj" fmla="val 8571"/>
            </a:avLst>
          </a:prstGeom>
          <a:solidFill>
            <a:srgbClr val="0D948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546336" y="2103120"/>
            <a:ext cx="768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元数据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结构对齐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0387584" y="2377440"/>
            <a:ext cx="109728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442448" y="2322576"/>
            <a:ext cx="109728" cy="109728"/>
          </a:xfrm>
          <a:prstGeom prst="rect">
            <a:avLst/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497312" y="2057400"/>
            <a:ext cx="914400" cy="640080"/>
          </a:xfrm>
          <a:prstGeom prst="rect">
            <a:avLst>
              <a:gd name="adj" fmla="val 8571"/>
            </a:avLst>
          </a:prstGeom>
          <a:solidFill>
            <a:srgbClr val="22C55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570464" y="2103120"/>
            <a:ext cx="768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IMA知识库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补充注入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309360" y="2834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核心能力：国际文献检索 | 英文元数据 | 跨语言融合 | 互补知识覆盖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309360" y="3154680"/>
            <a:ext cx="4937760" cy="256032"/>
          </a:xfrm>
          <a:prstGeom prst="rect">
            <a:avLst>
              <a:gd name="adj" fmla="val 1428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09360" y="3172968"/>
            <a:ext cx="493776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状态：可行性确认，待接入WorkBuddy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3657600"/>
            <a:ext cx="11274552" cy="457200"/>
          </a:xfrm>
          <a:prstGeom prst="rect">
            <a:avLst>
              <a:gd name="adj" fmla="val 16000"/>
            </a:avLst>
          </a:prstGeom>
          <a:solidFill>
            <a:srgbClr val="162447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108960" y="3429000"/>
            <a:ext cx="0" cy="22860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054096" y="3547872"/>
            <a:ext cx="109728" cy="109728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778240" y="3429000"/>
            <a:ext cx="0" cy="22860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723376" y="3547872"/>
            <a:ext cx="109728" cy="109728"/>
          </a:xfrm>
          <a:prstGeom prst="rect">
            <a:avLst/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0080" y="3730752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双路径汇聚 → 统一清洗 → 结构化存储 → IMA知识库 → 服务全流程AI应用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457200" y="4343400"/>
            <a:ext cx="5486400" cy="2103120"/>
          </a:xfrm>
          <a:prstGeom prst="rect">
            <a:avLst>
              <a:gd name="adj" fmla="val 3478"/>
            </a:avLst>
          </a:prstGeom>
          <a:solidFill>
            <a:srgbClr val="0F1B2E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0080" y="4434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知识生产基础库的价值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640080" y="480060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为申报简表提供同类项目参考文献与技术对标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40080" y="509320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为指南编写提供最新政策解读与技术趋势分析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40080" y="5385816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为可研报告提供文献综述自动引用与数据支撑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40080" y="567842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为技术研究报告提供模型推导的理论依据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40080" y="597103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为Demo原型提供行业最佳实践与设计规范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309360" y="4343400"/>
            <a:ext cx="5120640" cy="2103120"/>
          </a:xfrm>
          <a:prstGeom prst="rect">
            <a:avLst>
              <a:gd name="adj" fmla="val 3478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92240" y="44348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扩展AI应用场景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6492240" y="480060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AI自动追踪领域热点，推送最新研究成果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492240" y="509320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跨项目知识复用：相似项目经验自动匹配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6492240" y="538581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智能文献综述：输入主题→AI生成综述初稿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6492240" y="567842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技术路线对比：多方案自动优劣势分析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6492240" y="597103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知识图谱构建：实体关系可视化展示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137160" y="13716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914632" y="13716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37160" y="658368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914632" y="658368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4552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学术文献智能流转闭环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从人工爬取到智能报告，全流程自动化升级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566160" cy="2103120"/>
          </a:xfrm>
          <a:prstGeom prst="rect">
            <a:avLst>
              <a:gd name="adj" fmla="val 3478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356616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传统手工模式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3017520" cy="274320"/>
          </a:xfrm>
          <a:prstGeom prst="rect">
            <a:avLst>
              <a:gd name="adj" fmla="val 20000"/>
            </a:avLst>
          </a:prstGeom>
          <a:solidFill>
            <a:srgbClr val="162447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463040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人工检索下载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40280" y="1691640"/>
            <a:ext cx="91440" cy="0"/>
          </a:xfrm>
          <a:prstGeom prst="line">
            <a:avLst/>
          </a:prstGeom>
          <a:noFill/>
          <a:ln w="3175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76856" y="1636776"/>
            <a:ext cx="109728" cy="109728"/>
          </a:xfrm>
          <a:prstGeom prst="rect">
            <a:avLst/>
          </a:prstGeom>
          <a:solidFill>
            <a:srgbClr val="EF4444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737360"/>
            <a:ext cx="3017520" cy="274320"/>
          </a:xfrm>
          <a:prstGeom prst="rect">
            <a:avLst>
              <a:gd name="adj" fmla="val 20000"/>
            </a:avLst>
          </a:prstGeom>
          <a:solidFill>
            <a:srgbClr val="162447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1783080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手动整理分类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40280" y="2011680"/>
            <a:ext cx="91440" cy="0"/>
          </a:xfrm>
          <a:prstGeom prst="line">
            <a:avLst/>
          </a:prstGeom>
          <a:noFill/>
          <a:ln w="31750">
            <a:solidFill>
              <a:srgbClr val="EF44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76856" y="1956816"/>
            <a:ext cx="109728" cy="109728"/>
          </a:xfrm>
          <a:prstGeom prst="rect">
            <a:avLst/>
          </a:prstGeom>
          <a:solidFill>
            <a:srgbClr val="EF4444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2057400"/>
            <a:ext cx="3017520" cy="274320"/>
          </a:xfrm>
          <a:prstGeom prst="rect">
            <a:avLst>
              <a:gd name="adj" fmla="val 20000"/>
            </a:avLst>
          </a:prstGeom>
          <a:solidFill>
            <a:srgbClr val="162447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2103120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逐篇阅读提炼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40280" y="2331720"/>
            <a:ext cx="91440" cy="0"/>
          </a:xfrm>
          <a:prstGeom prst="line">
            <a:avLst/>
          </a:prstGeom>
          <a:noFill/>
          <a:ln w="31750">
            <a:solidFill>
              <a:srgbClr val="EF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76856" y="2276856"/>
            <a:ext cx="109728" cy="109728"/>
          </a:xfrm>
          <a:prstGeom prst="rect">
            <a:avLst/>
          </a:prstGeom>
          <a:solidFill>
            <a:srgbClr val="EF4444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2377440"/>
            <a:ext cx="3017520" cy="274320"/>
          </a:xfrm>
          <a:prstGeom prst="rect">
            <a:avLst>
              <a:gd name="adj" fmla="val 20000"/>
            </a:avLst>
          </a:prstGeom>
          <a:solidFill>
            <a:srgbClr val="162447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2423160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人工编写报告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14400" y="2743200"/>
            <a:ext cx="2651760" cy="228600"/>
          </a:xfrm>
          <a:prstGeom prst="rect">
            <a:avLst>
              <a:gd name="adj" fmla="val 16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76148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4-8小时/10篇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914400"/>
            <a:ext cx="3566160" cy="2103120"/>
          </a:xfrm>
          <a:prstGeom prst="rect">
            <a:avLst>
              <a:gd name="adj" fmla="val 3478"/>
            </a:avLst>
          </a:prstGeom>
          <a:solidFill>
            <a:srgbClr val="0F1B2E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7680" y="914400"/>
            <a:ext cx="3566160" cy="3657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960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自动化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0" y="1417320"/>
            <a:ext cx="3017520" cy="274320"/>
          </a:xfrm>
          <a:prstGeom prst="rect">
            <a:avLst>
              <a:gd name="adj" fmla="val 20000"/>
            </a:avLst>
          </a:prstGeom>
          <a:solidFill>
            <a:srgbClr val="162447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45152" y="1463040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粘贴/上传文献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80760" y="1691640"/>
            <a:ext cx="91440" cy="0"/>
          </a:xfrm>
          <a:prstGeom prst="line">
            <a:avLst/>
          </a:prstGeom>
          <a:noFill/>
          <a:ln w="31750">
            <a:solidFill>
              <a:srgbClr val="D4A84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17336" y="1636776"/>
            <a:ext cx="109728" cy="109728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1737360"/>
            <a:ext cx="3017520" cy="274320"/>
          </a:xfrm>
          <a:prstGeom prst="rect">
            <a:avLst>
              <a:gd name="adj" fmla="val 20000"/>
            </a:avLst>
          </a:prstGeom>
          <a:solidFill>
            <a:srgbClr val="162447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45152" y="1783080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AI自动清洗提取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80760" y="2011680"/>
            <a:ext cx="91440" cy="0"/>
          </a:xfrm>
          <a:prstGeom prst="line">
            <a:avLst/>
          </a:prstGeom>
          <a:noFill/>
          <a:ln w="31750">
            <a:solidFill>
              <a:srgbClr val="D4A84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17336" y="1956816"/>
            <a:ext cx="109728" cy="109728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0" y="2057400"/>
            <a:ext cx="3017520" cy="274320"/>
          </a:xfrm>
          <a:prstGeom prst="rect">
            <a:avLst>
              <a:gd name="adj" fmla="val 20000"/>
            </a:avLst>
          </a:prstGeom>
          <a:solidFill>
            <a:srgbClr val="162447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45152" y="2103120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智能分类标签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80760" y="2331720"/>
            <a:ext cx="91440" cy="0"/>
          </a:xfrm>
          <a:prstGeom prst="line">
            <a:avLst/>
          </a:prstGeom>
          <a:noFill/>
          <a:ln w="31750">
            <a:solidFill>
              <a:srgbClr val="D4A84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17336" y="2276856"/>
            <a:ext cx="109728" cy="109728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2377440"/>
            <a:ext cx="3017520" cy="274320"/>
          </a:xfrm>
          <a:prstGeom prst="rect">
            <a:avLst>
              <a:gd name="adj" fmla="val 20000"/>
            </a:avLst>
          </a:prstGeom>
          <a:solidFill>
            <a:srgbClr val="162447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45152" y="2423160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自动传入IMA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2743200"/>
            <a:ext cx="2651760" cy="228600"/>
          </a:xfrm>
          <a:prstGeom prst="rect">
            <a:avLst>
              <a:gd name="adj" fmla="val 16000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276148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5分钟/10篇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138160" y="914400"/>
            <a:ext cx="3566160" cy="2103120"/>
          </a:xfrm>
          <a:prstGeom prst="rect">
            <a:avLst>
              <a:gd name="adj" fmla="val 3478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38160" y="914400"/>
            <a:ext cx="3566160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38160" y="960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 知识库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412480" y="1417320"/>
            <a:ext cx="3017520" cy="274320"/>
          </a:xfrm>
          <a:prstGeom prst="rect">
            <a:avLst>
              <a:gd name="adj" fmla="val 20000"/>
            </a:avLst>
          </a:prstGeom>
          <a:solidFill>
            <a:srgbClr val="162447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85632" y="1463040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文件上传通道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921240" y="1691640"/>
            <a:ext cx="9144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957816" y="1636776"/>
            <a:ext cx="109728" cy="109728"/>
          </a:xfrm>
          <a:prstGeom prst="rect">
            <a:avLst/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412480" y="1737360"/>
            <a:ext cx="3017520" cy="274320"/>
          </a:xfrm>
          <a:prstGeom prst="rect">
            <a:avLst>
              <a:gd name="adj" fmla="val 20000"/>
            </a:avLst>
          </a:prstGeom>
          <a:solidFill>
            <a:srgbClr val="162447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85632" y="1783080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URL导入通道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921240" y="2011680"/>
            <a:ext cx="9144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957816" y="1956816"/>
            <a:ext cx="109728" cy="109728"/>
          </a:xfrm>
          <a:prstGeom prst="rect">
            <a:avLst/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412480" y="2057400"/>
            <a:ext cx="3017520" cy="274320"/>
          </a:xfrm>
          <a:prstGeom prst="rect">
            <a:avLst>
              <a:gd name="adj" fmla="val 20000"/>
            </a:avLst>
          </a:prstGeom>
          <a:solidFill>
            <a:srgbClr val="162447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85632" y="2103120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笔记创建通道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9921240" y="2331720"/>
            <a:ext cx="9144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957816" y="2276856"/>
            <a:ext cx="109728" cy="109728"/>
          </a:xfrm>
          <a:prstGeom prst="rect">
            <a:avLst/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412480" y="2377440"/>
            <a:ext cx="3017520" cy="274320"/>
          </a:xfrm>
          <a:prstGeom prst="rect">
            <a:avLst>
              <a:gd name="adj" fmla="val 20000"/>
            </a:avLst>
          </a:prstGeom>
          <a:solidFill>
            <a:srgbClr val="162447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485632" y="2423160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结构化文献库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595360" y="2743200"/>
            <a:ext cx="2651760" cy="228600"/>
          </a:xfrm>
          <a:prstGeom prst="rect">
            <a:avLst>
              <a:gd name="adj" fmla="val 16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595360" y="276148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全自动入库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023360" y="1965960"/>
            <a:ext cx="274320" cy="0"/>
          </a:xfrm>
          <a:prstGeom prst="line">
            <a:avLst/>
          </a:prstGeom>
          <a:noFill/>
          <a:ln w="31750">
            <a:solidFill>
              <a:srgbClr val="D4A84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42816" y="1911096"/>
            <a:ext cx="109728" cy="109728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863840" y="1965960"/>
            <a:ext cx="274320" cy="0"/>
          </a:xfrm>
          <a:prstGeom prst="line">
            <a:avLst/>
          </a:prstGeom>
          <a:noFill/>
          <a:ln w="31750">
            <a:solidFill>
              <a:srgbClr val="D4A84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083296" y="1911096"/>
            <a:ext cx="109728" cy="109728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57200" y="3246120"/>
            <a:ext cx="11274552" cy="1554480"/>
          </a:xfrm>
          <a:prstGeom prst="rect">
            <a:avLst>
              <a:gd name="adj" fmla="val 4706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3337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闭环回流：WorkBuddy ↔ IMA 知识库双向联动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1280160" y="3749040"/>
            <a:ext cx="502920" cy="502920"/>
          </a:xfrm>
          <a:prstGeom prst="ellipse">
            <a:avLst/>
          </a:prstGeom>
          <a:solidFill>
            <a:srgbClr val="3B82F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280160" y="37947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874520" y="3703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发起分析请求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1874520" y="3977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用户输入项目需求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与技术方向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291840" y="3977640"/>
            <a:ext cx="320040" cy="0"/>
          </a:xfrm>
          <a:prstGeom prst="line">
            <a:avLst/>
          </a:prstGeom>
          <a:noFill/>
          <a:ln w="31750">
            <a:solidFill>
              <a:srgbClr val="D4A84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557016" y="3922776"/>
            <a:ext cx="109728" cy="109728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023360" y="3749040"/>
            <a:ext cx="502920" cy="502920"/>
          </a:xfrm>
          <a:prstGeom prst="ellipse">
            <a:avLst/>
          </a:prstGeom>
          <a:solidFill>
            <a:srgbClr val="2DD4BF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023360" y="37947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4617720" y="3703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检索IMA知识库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4617720" y="3977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匹配已入库文献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与历史项目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035040" y="3977640"/>
            <a:ext cx="320040" cy="0"/>
          </a:xfrm>
          <a:prstGeom prst="line">
            <a:avLst/>
          </a:prstGeom>
          <a:noFill/>
          <a:ln w="31750">
            <a:solidFill>
              <a:srgbClr val="D4A84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300216" y="3922776"/>
            <a:ext cx="109728" cy="109728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0" y="3749040"/>
            <a:ext cx="502920" cy="502920"/>
          </a:xfrm>
          <a:prstGeom prst="ellipse">
            <a:avLst/>
          </a:prstGeom>
          <a:solidFill>
            <a:srgbClr val="D4A843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766560" y="37947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7360920" y="3703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AI分析整合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7360920" y="3977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多源信息融合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智能推理分析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8778240" y="3977640"/>
            <a:ext cx="320040" cy="0"/>
          </a:xfrm>
          <a:prstGeom prst="line">
            <a:avLst/>
          </a:prstGeom>
          <a:noFill/>
          <a:ln w="31750">
            <a:solidFill>
              <a:srgbClr val="D4A84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043416" y="3922776"/>
            <a:ext cx="109728" cy="109728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509760" y="3749040"/>
            <a:ext cx="502920" cy="502920"/>
          </a:xfrm>
          <a:prstGeom prst="ellipse">
            <a:avLst/>
          </a:prstGeom>
          <a:solidFill>
            <a:srgbClr val="22C55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509760" y="37947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10104120" y="3703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输出报告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10104120" y="3977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生成结构化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技术文档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7772400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成果归档IMA → 下次复用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457200" y="5029200"/>
            <a:ext cx="5486400" cy="1371600"/>
          </a:xfrm>
          <a:prstGeom prst="rect">
            <a:avLst>
              <a:gd name="adj" fmla="val 5333"/>
            </a:avLst>
          </a:prstGeom>
          <a:solidFill>
            <a:srgbClr val="0F1B2E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40080" y="51206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核心突破</a:t>
            </a:r>
            <a:endParaRPr lang="en-US" sz="1400" dirty="0"/>
          </a:p>
        </p:txBody>
      </p:sp>
      <p:sp>
        <p:nvSpPr>
          <p:cNvPr id="93" name="Text 91"/>
          <p:cNvSpPr/>
          <p:nvPr/>
        </p:nvSpPr>
        <p:spPr>
          <a:xfrm>
            <a:off x="640080" y="548640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文献处理效率提升10倍（4-8小时→5分钟）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640080" y="5760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知识零遗漏：100%自动入库，零人工遗漏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640080" y="603504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闭环回流：研究成果反向归档，形成知识资产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6309360" y="5029200"/>
            <a:ext cx="5120640" cy="1371600"/>
          </a:xfrm>
          <a:prstGeom prst="rect">
            <a:avLst>
              <a:gd name="adj" fmla="val 5333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492240" y="51206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扩展AI应用</a:t>
            </a:r>
            <a:endParaRPr lang="en-US" sz="1400" dirty="0"/>
          </a:p>
        </p:txBody>
      </p:sp>
      <p:sp>
        <p:nvSpPr>
          <p:cNvPr id="98" name="Text 96"/>
          <p:cNvSpPr/>
          <p:nvPr/>
        </p:nvSpPr>
        <p:spPr>
          <a:xfrm>
            <a:off x="6492240" y="548640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文献相似度计算：自动发现关联研究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6492240" y="576072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引用网络分析：追踪研究脉络与演化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6492240" y="60350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趋势预测：基于发表趋势预判技术热点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137160" y="13716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1914632" y="13716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37160" y="658368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1914632" y="658368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4552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科技项目全流程 AI应用概览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5大环节 × 智能化升级路径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" y="2103120"/>
            <a:ext cx="10817352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234440" y="1188720"/>
            <a:ext cx="1097280" cy="1097280"/>
          </a:xfrm>
          <a:prstGeom prst="ellipse">
            <a:avLst/>
          </a:prstGeom>
          <a:solidFill>
            <a:srgbClr val="3B82F6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32588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申报简表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468880"/>
            <a:ext cx="1737360" cy="731520"/>
          </a:xfrm>
          <a:prstGeom prst="rect">
            <a:avLst>
              <a:gd name="adj" fmla="val 7500"/>
            </a:avLst>
          </a:prstGeom>
          <a:solidFill>
            <a:srgbClr val="16244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5603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AI框架搭建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会议流程优化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23160" y="1737360"/>
            <a:ext cx="502920" cy="0"/>
          </a:xfrm>
          <a:prstGeom prst="line">
            <a:avLst/>
          </a:prstGeom>
          <a:noFill/>
          <a:ln w="31750">
            <a:solidFill>
              <a:srgbClr val="D4A84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71216" y="1682496"/>
            <a:ext cx="109728" cy="109728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1188720"/>
            <a:ext cx="1097280" cy="1097280"/>
          </a:xfrm>
          <a:prstGeom prst="ellipse">
            <a:avLst/>
          </a:prstGeom>
          <a:solidFill>
            <a:srgbClr val="2DD4BF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32588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指南编写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0" y="2468880"/>
            <a:ext cx="1737360" cy="731520"/>
          </a:xfrm>
          <a:prstGeom prst="rect">
            <a:avLst>
              <a:gd name="adj" fmla="val 7500"/>
            </a:avLst>
          </a:prstGeom>
          <a:solidFill>
            <a:srgbClr val="16244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25603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政策智能对齐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内容自动生成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1737360"/>
            <a:ext cx="502920" cy="0"/>
          </a:xfrm>
          <a:prstGeom prst="line">
            <a:avLst/>
          </a:prstGeom>
          <a:noFill/>
          <a:ln w="31750">
            <a:solidFill>
              <a:srgbClr val="D4A84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57216" y="1682496"/>
            <a:ext cx="109728" cy="109728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06440" y="1188720"/>
            <a:ext cx="1097280" cy="1097280"/>
          </a:xfrm>
          <a:prstGeom prst="ellipse">
            <a:avLst/>
          </a:prstGeom>
          <a:solidFill>
            <a:srgbClr val="D4A843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132588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可研报告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0" y="2468880"/>
            <a:ext cx="1737360" cy="731520"/>
          </a:xfrm>
          <a:prstGeom prst="rect">
            <a:avLst>
              <a:gd name="adj" fmla="val 7500"/>
            </a:avLst>
          </a:prstGeom>
          <a:solidFill>
            <a:srgbClr val="16244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25603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全量自动生成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图表嵌入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95160" y="1737360"/>
            <a:ext cx="502920" cy="0"/>
          </a:xfrm>
          <a:prstGeom prst="line">
            <a:avLst/>
          </a:prstGeom>
          <a:noFill/>
          <a:ln w="31750">
            <a:solidFill>
              <a:srgbClr val="D4A84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43216" y="1682496"/>
            <a:ext cx="109728" cy="109728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92440" y="1188720"/>
            <a:ext cx="1097280" cy="1097280"/>
          </a:xfrm>
          <a:prstGeom prst="ellipse">
            <a:avLst/>
          </a:prstGeom>
          <a:solidFill>
            <a:srgbClr val="3B82F6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92440" y="132588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技术报告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772400" y="2468880"/>
            <a:ext cx="1737360" cy="731520"/>
          </a:xfrm>
          <a:prstGeom prst="rect">
            <a:avLst>
              <a:gd name="adj" fmla="val 7500"/>
            </a:avLst>
          </a:prstGeom>
          <a:solidFill>
            <a:srgbClr val="16244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0" y="25603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深度知识生成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规则库设计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281160" y="1737360"/>
            <a:ext cx="502920" cy="0"/>
          </a:xfrm>
          <a:prstGeom prst="line">
            <a:avLst/>
          </a:prstGeom>
          <a:noFill/>
          <a:ln w="31750">
            <a:solidFill>
              <a:srgbClr val="D4A84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29216" y="1682496"/>
            <a:ext cx="109728" cy="109728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78440" y="1188720"/>
            <a:ext cx="1097280" cy="1097280"/>
          </a:xfrm>
          <a:prstGeom prst="ellipse">
            <a:avLst/>
          </a:prstGeom>
          <a:solidFill>
            <a:srgbClr val="2DD4BF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78440" y="132588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Demo原型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058400" y="2468880"/>
            <a:ext cx="1737360" cy="731520"/>
          </a:xfrm>
          <a:prstGeom prst="rect">
            <a:avLst>
              <a:gd name="adj" fmla="val 7500"/>
            </a:avLst>
          </a:prstGeom>
          <a:solidFill>
            <a:srgbClr val="16244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49840" y="25603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代码自动生成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可视化组件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429000"/>
            <a:ext cx="11274552" cy="457200"/>
          </a:xfrm>
          <a:prstGeom prst="rect">
            <a:avLst>
              <a:gd name="adj" fmla="val 16000"/>
            </a:avLst>
          </a:prstGeom>
          <a:solidFill>
            <a:srgbClr val="162447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49300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AI知识生产基础库（中国科技云 + Bing学术） → IMA知识库 → 全流程知识注入与复用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" y="4114800"/>
            <a:ext cx="2148840" cy="2377440"/>
          </a:xfrm>
          <a:prstGeom prst="rect">
            <a:avLst>
              <a:gd name="adj" fmla="val 3404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206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申报简表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8640" y="4526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起草时间：2-3天→0.5天（↓83%）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496519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一次通过率：80%（历史均值50%）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" y="5404104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AI辅助：框架生成+指标匹配+会议流程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" y="5843016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扩展：智能查重+相似项目推荐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61488" y="4114800"/>
            <a:ext cx="2148840" cy="2377440"/>
          </a:xfrm>
          <a:prstGeom prst="rect">
            <a:avLst>
              <a:gd name="adj" fmla="val 3404"/>
            </a:avLst>
          </a:prstGeom>
          <a:solidFill>
            <a:srgbClr val="0F1B2E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52928" y="4206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指南编写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2852928" y="4526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编写效率：提升5倍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852928" y="496519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政策对齐度：60%→95%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852928" y="5404104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AI辅助：政策解析+框架草案+审校对齐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852928" y="5843016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扩展：多版本A/B测试+自动评审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065776" y="4114800"/>
            <a:ext cx="2148840" cy="2377440"/>
          </a:xfrm>
          <a:prstGeom prst="rect">
            <a:avLst>
              <a:gd name="adj" fmla="val 3404"/>
            </a:avLst>
          </a:prstGeom>
          <a:solidFill>
            <a:srgbClr val="0F1B2E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57216" y="4206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可研报告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157216" y="4526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生成时间：2周→2天（↑7x）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157216" y="496519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22张图表自动嵌入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157216" y="5404104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AI辅助：脚本化全量生成+数据分析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157216" y="5843016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扩展：多项目模板复用+自动校审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370064" y="4114800"/>
            <a:ext cx="2148840" cy="2377440"/>
          </a:xfrm>
          <a:prstGeom prst="rect">
            <a:avLst>
              <a:gd name="adj" fmla="val 3404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61504" y="4206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技术报告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7461504" y="4526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效率提升10倍，140规则库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461504" y="496519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CHI/Arrhenius模型推导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461504" y="5404104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AI辅助：深度生成+知识库沉淀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461504" y="5843016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扩展：跨项目知识复用+自动评审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674352" y="4114800"/>
            <a:ext cx="2148840" cy="2377440"/>
          </a:xfrm>
          <a:prstGeom prst="rect">
            <a:avLst>
              <a:gd name="adj" fmla="val 3404"/>
            </a:avLst>
          </a:prstGeom>
          <a:solidFill>
            <a:srgbClr val="0F1B2E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765792" y="4206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Demo原型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9765792" y="4526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原型周期：2周→3天（↓85%）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765792" y="496519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周报100%自动化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9765792" y="5404104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AI辅助：代码生成+可视化组件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9765792" y="5843016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扩展：交互式Demo+在线评审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37160" y="13716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914632" y="13716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37160" y="658368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914632" y="658368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4552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申报简表 — AI辅助框架搭建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从2-3天缩短至0.5天，一次通过率80%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3474720" cy="2194560"/>
          </a:xfrm>
          <a:prstGeom prst="rect">
            <a:avLst>
              <a:gd name="adj" fmla="val 3333"/>
            </a:avLst>
          </a:prstGeom>
          <a:solidFill>
            <a:srgbClr val="0F1B2E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1051560"/>
            <a:ext cx="1097280" cy="1097280"/>
          </a:xfrm>
          <a:prstGeom prst="ellipse">
            <a:avLst/>
          </a:prstGeom>
          <a:solidFill>
            <a:srgbClr val="3B82F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109728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需求调研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技术方向确认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目标与资源梳理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280160" y="2743200"/>
            <a:ext cx="2377440" cy="274320"/>
          </a:xfrm>
          <a:prstGeom prst="rect">
            <a:avLst>
              <a:gd name="adj" fmla="val 1333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276148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WorkBuddy+IMA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06240" y="2011680"/>
            <a:ext cx="320040" cy="0"/>
          </a:xfrm>
          <a:prstGeom prst="line">
            <a:avLst/>
          </a:prstGeom>
          <a:noFill/>
          <a:ln w="31750">
            <a:solidFill>
              <a:srgbClr val="D4A84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71416" y="1956816"/>
            <a:ext cx="109728" cy="109728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914400"/>
            <a:ext cx="3474720" cy="2194560"/>
          </a:xfrm>
          <a:prstGeom prst="rect">
            <a:avLst>
              <a:gd name="adj" fmla="val 3333"/>
            </a:avLst>
          </a:prstGeom>
          <a:solidFill>
            <a:srgbClr val="0F1B2E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60720" y="1051560"/>
            <a:ext cx="1097280" cy="1097280"/>
          </a:xfrm>
          <a:prstGeom prst="ellipse">
            <a:avLst/>
          </a:prstGeom>
          <a:solidFill>
            <a:srgbClr val="D4A843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09728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AI智能生成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2286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需求→简表框架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多版本迭代(10min×3)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20640" y="2743200"/>
            <a:ext cx="2377440" cy="27432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276148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WorkBuddy+WebSearch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46720" y="2011680"/>
            <a:ext cx="320040" cy="0"/>
          </a:xfrm>
          <a:prstGeom prst="line">
            <a:avLst/>
          </a:prstGeom>
          <a:noFill/>
          <a:ln w="31750">
            <a:solidFill>
              <a:srgbClr val="D4A84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11896" y="1956816"/>
            <a:ext cx="109728" cy="109728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0" y="914400"/>
            <a:ext cx="3474720" cy="2194560"/>
          </a:xfrm>
          <a:prstGeom prst="rect">
            <a:avLst>
              <a:gd name="adj" fmla="val 3333"/>
            </a:avLst>
          </a:prstGeom>
          <a:solidFill>
            <a:srgbClr val="0F1B2E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0" y="1051560"/>
            <a:ext cx="1097280" cy="1097280"/>
          </a:xfrm>
          <a:prstGeom prst="ellipse">
            <a:avLst/>
          </a:prstGeom>
          <a:solidFill>
            <a:srgbClr val="22C55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109728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专家评审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49640" y="2286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可行性/创新性评估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AI辅助修改→终稿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961120" y="2743200"/>
            <a:ext cx="2377440" cy="274320"/>
          </a:xfrm>
          <a:prstGeom prst="rect">
            <a:avLst>
              <a:gd name="adj" fmla="val 13333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0" y="276148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WorkBuddy+IMA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337560"/>
            <a:ext cx="3657600" cy="3017520"/>
          </a:xfrm>
          <a:prstGeom prst="rect">
            <a:avLst>
              <a:gd name="adj" fmla="val 2424"/>
            </a:avLst>
          </a:prstGeom>
          <a:solidFill>
            <a:srgbClr val="0F1B2E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429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AI应用场景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3794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输入核心要点→AI自动生成简表框架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4114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多版本快速迭代：调整参数→即时新版本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4434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关键词与指标智能匹配，提升评审通过率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4754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历史简表模板库复用，减少重复劳动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" y="5074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AI解析评分标准与申报要求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5394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IMA知识库检索相似案例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5715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智能查重：自动比对已申报项目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389120" y="3337560"/>
            <a:ext cx="3657600" cy="3017520"/>
          </a:xfrm>
          <a:prstGeom prst="rect">
            <a:avLst>
              <a:gd name="adj" fmla="val 2424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3429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核心成果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72000" y="3794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起草时间：2-3天 → 0.5天（↓83%）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0" y="4114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一次通过率：80%（历史均值50%）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0" y="4434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多版本迭代：10分钟内完成3版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0" y="4754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AI工具：WorkBuddy + IMA + WebSearch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0" y="5074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模板复用率：70%以上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321040" y="3337560"/>
            <a:ext cx="3383280" cy="3017520"/>
          </a:xfrm>
          <a:prstGeom prst="rect">
            <a:avLst>
              <a:gd name="adj" fmla="val 2424"/>
            </a:avLst>
          </a:prstGeom>
          <a:solidFill>
            <a:srgbClr val="0F1B2E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03920" y="3429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扩展AI应用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503920" y="3794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智能查重：自动比对已申报项目，避免重复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503920" y="4114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相似项目推荐：基于知识库匹配成功案例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503920" y="4434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评审模拟：AI预评审+评分预测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03920" y="4754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竞争分析：同批次申报项目优劣势对比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503920" y="5074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申报策略优化：基于历史数据推荐最佳方向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6263640"/>
            <a:ext cx="11274552" cy="365760"/>
          </a:xfrm>
          <a:prstGeom prst="rect">
            <a:avLst>
              <a:gd name="adj" fmla="val 20000"/>
            </a:avLst>
          </a:prstGeom>
          <a:solidFill>
            <a:srgbClr val="16244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630936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心得：AI擅长快速提炼和结构化，核心创新点需人工把关；模板库越完善AI效果越好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137160" y="13716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914632" y="13716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37160" y="658368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914632" y="658368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4552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指南编写 — 政策对齐与内容智能生成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编写效率提升5倍，政策对齐度显著提高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691640" cy="914400"/>
          </a:xfrm>
          <a:prstGeom prst="rect">
            <a:avLst>
              <a:gd name="adj" fmla="val 8000"/>
            </a:avLst>
          </a:prstGeom>
          <a:solidFill>
            <a:srgbClr val="0F1B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政策文档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48840" y="1463040"/>
            <a:ext cx="201168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95144" y="1408176"/>
            <a:ext cx="109728" cy="109728"/>
          </a:xfrm>
          <a:prstGeom prst="rect">
            <a:avLst/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1005840"/>
            <a:ext cx="1691640" cy="914400"/>
          </a:xfrm>
          <a:prstGeom prst="rect">
            <a:avLst>
              <a:gd name="adj" fmla="val 8000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05156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AI解析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评分标准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69080" y="1463040"/>
            <a:ext cx="201168" cy="0"/>
          </a:xfrm>
          <a:prstGeom prst="line">
            <a:avLst/>
          </a:prstGeom>
          <a:noFill/>
          <a:ln w="31750">
            <a:solidFill>
              <a:srgbClr val="D4A84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15384" y="1408176"/>
            <a:ext cx="109728" cy="109728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005840"/>
            <a:ext cx="1691640" cy="914400"/>
          </a:xfrm>
          <a:prstGeom prst="rect">
            <a:avLst>
              <a:gd name="adj" fmla="val 8000"/>
            </a:avLst>
          </a:prstGeom>
          <a:solidFill>
            <a:srgbClr val="0F1B2E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105156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技术方向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智能梳理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9320" y="1463040"/>
            <a:ext cx="201168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35624" y="1408176"/>
            <a:ext cx="109728" cy="109728"/>
          </a:xfrm>
          <a:prstGeom prst="rect">
            <a:avLst/>
          </a:prstGeom>
          <a:solidFill>
            <a:srgbClr val="2DD4BF"/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005840"/>
            <a:ext cx="1691640" cy="914400"/>
          </a:xfrm>
          <a:prstGeom prst="rect">
            <a:avLst>
              <a:gd name="adj" fmla="val 8000"/>
            </a:avLst>
          </a:prstGeom>
          <a:solidFill>
            <a:srgbClr val="0F1B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05156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框架草案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自动生成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09560" y="1463040"/>
            <a:ext cx="201168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55864" y="1408176"/>
            <a:ext cx="109728" cy="109728"/>
          </a:xfrm>
          <a:prstGeom prst="rect">
            <a:avLst/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1005840"/>
            <a:ext cx="1691640" cy="914400"/>
          </a:xfrm>
          <a:prstGeom prst="rect">
            <a:avLst>
              <a:gd name="adj" fmla="val 8000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83880" y="105156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多轮审校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政策对齐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829800" y="1463040"/>
            <a:ext cx="201168" cy="0"/>
          </a:xfrm>
          <a:prstGeom prst="line">
            <a:avLst/>
          </a:prstGeom>
          <a:noFill/>
          <a:ln w="31750">
            <a:solidFill>
              <a:srgbClr val="D4A84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76104" y="1408176"/>
            <a:ext cx="109728" cy="109728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0" y="1005840"/>
            <a:ext cx="1691640" cy="914400"/>
          </a:xfrm>
          <a:prstGeom prst="rect">
            <a:avLst>
              <a:gd name="adj" fmla="val 8000"/>
            </a:avLst>
          </a:prstGeom>
          <a:solidFill>
            <a:srgbClr val="0F1B2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04120" y="105156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终稿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2148840"/>
            <a:ext cx="11274552" cy="457200"/>
          </a:xfrm>
          <a:prstGeom prst="rect">
            <a:avLst>
              <a:gd name="adj" fmla="val 16000"/>
            </a:avLst>
          </a:prstGeom>
          <a:solidFill>
            <a:srgbClr val="16244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221284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IMA知识库支撑：历史指南比对 | 最新政策检索 | 行业标准对齐 | 技术趋势分析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2834640"/>
            <a:ext cx="3657600" cy="2377440"/>
          </a:xfrm>
          <a:prstGeom prst="rect">
            <a:avLst>
              <a:gd name="adj" fmla="val 3077"/>
            </a:avLst>
          </a:prstGeom>
          <a:solidFill>
            <a:srgbClr val="0F1B2E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2926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AI应用场景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" y="32918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政策文档解析→自动提取评分标准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35935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技术方向梳理→AI生成指南框架草案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" y="389534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多轮审校对齐→确保政策一致性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419709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历史指南库比对→避免重复冲突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4498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AI知识库：实时检索最新政策动态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48006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自动生成章节结构与内容模板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89120" y="2834640"/>
            <a:ext cx="3657600" cy="2377440"/>
          </a:xfrm>
          <a:prstGeom prst="rect">
            <a:avLst>
              <a:gd name="adj" fmla="val 3077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0" y="2926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核心成果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572000" y="32918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编写效率：提升5倍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0" y="35935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政策对齐度：60%→95%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0" y="389534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多版本对比：3版/小时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0" y="419709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AI工具：WorkBuddy + IMA + WebSearch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0" y="4498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案例覆盖：智能电网/计量/新型电力系统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321040" y="2834640"/>
            <a:ext cx="3383280" cy="2377440"/>
          </a:xfrm>
          <a:prstGeom prst="rect">
            <a:avLst>
              <a:gd name="adj" fmla="val 3077"/>
            </a:avLst>
          </a:prstGeom>
          <a:solidFill>
            <a:srgbClr val="0F1B2E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03920" y="2926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扩展AI应用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503920" y="329184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多版本A/B测试：自动对比最优方案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503920" y="359359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合规性自动评审：逐项检查政策匹配度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03920" y="389534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专家知识注入：行业专家经验数字化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503920" y="419709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智能推荐：基于项目特征推荐指南模板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503920" y="449884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跨区域政策差异分析：南网vs国网对比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" y="5394960"/>
            <a:ext cx="11274552" cy="365760"/>
          </a:xfrm>
          <a:prstGeom prst="rect">
            <a:avLst>
              <a:gd name="adj" fmla="val 20000"/>
            </a:avLst>
          </a:prstGeom>
          <a:solidFill>
            <a:srgbClr val="16244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" y="544068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心得：政策合规性必须人工审核，涉密条款尤甚；AI生成的框架需经专家确认后才可定稿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57200" y="5943600"/>
            <a:ext cx="11274552" cy="640080"/>
          </a:xfrm>
          <a:prstGeom prst="rect">
            <a:avLst>
              <a:gd name="adj" fmla="val 11429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5989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实践案例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40080" y="626364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智能电网技术指南：解析南网/国网最新政策→生成技术方向    ② 计量设备AI应用指南：梳理故障诊断技术路线→对齐行业标准    ③ 新型电力系统指南：多源政策交叉分析→提炼核心考核指标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37160" y="13716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914632" y="13716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37160" y="658368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914632" y="658368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4552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可研报告 — 全量自动化生成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脚本化 &gt; 对话式，一次编写多次复用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057400" cy="1645920"/>
          </a:xfrm>
          <a:prstGeom prst="rect">
            <a:avLst>
              <a:gd name="adj" fmla="val 4444"/>
            </a:avLst>
          </a:prstGeom>
          <a:solidFill>
            <a:srgbClr val="0F1B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原始数据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实验数据/调研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文献/规则库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737360"/>
            <a:ext cx="256032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15768" y="1682496"/>
            <a:ext cx="109728" cy="109728"/>
          </a:xfrm>
          <a:prstGeom prst="rect">
            <a:avLst/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914400"/>
            <a:ext cx="2057400" cy="1645920"/>
          </a:xfrm>
          <a:prstGeom prst="rect">
            <a:avLst>
              <a:gd name="adj" fmla="val 4444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9601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80360" y="155448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68维特征分析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PCA/t-SNE降维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737360"/>
            <a:ext cx="256032" cy="0"/>
          </a:xfrm>
          <a:prstGeom prst="line">
            <a:avLst/>
          </a:prstGeom>
          <a:noFill/>
          <a:ln w="31750">
            <a:solidFill>
              <a:srgbClr val="D4A84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47488" y="1682496"/>
            <a:ext cx="109728" cy="109728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914400"/>
            <a:ext cx="2057400" cy="1645920"/>
          </a:xfrm>
          <a:prstGeom prst="rect">
            <a:avLst>
              <a:gd name="adj" fmla="val 4444"/>
            </a:avLst>
          </a:prstGeom>
          <a:solidFill>
            <a:srgbClr val="0F1B2E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9601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图表自动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生成(22张)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0" y="155448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分布图/热力图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相关性/趋势图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78040" y="1737360"/>
            <a:ext cx="256032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79208" y="1682496"/>
            <a:ext cx="109728" cy="109728"/>
          </a:xfrm>
          <a:prstGeom prst="rect">
            <a:avLst/>
          </a:prstGeom>
          <a:solidFill>
            <a:srgbClr val="2DD4BF"/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52360" y="914400"/>
            <a:ext cx="2057400" cy="1645920"/>
          </a:xfrm>
          <a:prstGeom prst="rect">
            <a:avLst>
              <a:gd name="adj" fmla="val 4444"/>
            </a:avLst>
          </a:prstGeom>
          <a:solidFill>
            <a:srgbClr val="0F1B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9601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docx-js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脚本生成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43800" y="155448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6章结构编排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文献+附录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509760" y="1737360"/>
            <a:ext cx="256032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10928" y="1682496"/>
            <a:ext cx="109728" cy="109728"/>
          </a:xfrm>
          <a:prstGeom prst="rect">
            <a:avLst/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84080" y="914400"/>
            <a:ext cx="2057400" cy="1645920"/>
          </a:xfrm>
          <a:prstGeom prst="rect">
            <a:avLst>
              <a:gd name="adj" fmla="val 4444"/>
            </a:avLst>
          </a:prstGeom>
          <a:solidFill>
            <a:srgbClr val="0F1B2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29800" y="9601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75520" y="155448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1.35MB docx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100+页/5万字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788920"/>
            <a:ext cx="11274552" cy="365760"/>
          </a:xfrm>
          <a:prstGeom prst="rect">
            <a:avLst>
              <a:gd name="adj" fmla="val 20000"/>
            </a:avLst>
          </a:prstGeom>
          <a:solidFill>
            <a:srgbClr val="16244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83464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IMA知识库支撑：文献综述自动引用 | 规则库数据注入 | 历史报告模板复用 | 技术标准关联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383280"/>
            <a:ext cx="3657600" cy="2377440"/>
          </a:xfrm>
          <a:prstGeom prst="rect">
            <a:avLst>
              <a:gd name="adj" fmla="val 3077"/>
            </a:avLst>
          </a:prstGeom>
          <a:solidFill>
            <a:srgbClr val="0F1B2E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474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AI应用场景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" y="384048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docx-js脚本自动生成完整可研报告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" y="41422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22张matplotlib图表自动嵌入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444398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6章结构+20篇文献+3个附录深度编排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47457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数据→分析→图表→文字全链路自动化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50474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AI知识库：文献综述自动引用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53492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可研预算自动估算与合理性校验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389120" y="3383280"/>
            <a:ext cx="3657600" cy="2377440"/>
          </a:xfrm>
          <a:prstGeom prst="rect">
            <a:avLst>
              <a:gd name="adj" fmla="val 3077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0" y="3474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核心成果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572000" y="384048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报告规模：1.35MB（6章+20文献+3附录）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0" y="41422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图表数量：22张自动嵌入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0" y="444398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生成时间：2周→2天（↑7x）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0" y="47457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AI工具：docx-js + matplotlib + WorkBuddy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0" y="50474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脚本复用：一次编写，多项目适配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321040" y="3383280"/>
            <a:ext cx="3383280" cy="2377440"/>
          </a:xfrm>
          <a:prstGeom prst="rect">
            <a:avLst>
              <a:gd name="adj" fmla="val 3077"/>
            </a:avLst>
          </a:prstGeom>
          <a:solidFill>
            <a:srgbClr val="0F1B2E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03920" y="34747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扩展AI应用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503920" y="384048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多项目模板复用：不同项目类型自动适配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03920" y="414223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自动校审：格式/编号/引用一致性检查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503920" y="444398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可研指标自动计算：ROI/回收期/净现值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503920" y="474573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风险评估矩阵：自动识别技术/市场风险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503920" y="504748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同行评审模拟：AI预判评审关注点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57200" y="5943600"/>
            <a:ext cx="11274552" cy="365760"/>
          </a:xfrm>
          <a:prstGeom prst="rect">
            <a:avLst>
              <a:gd name="adj" fmla="val 20000"/>
            </a:avLst>
          </a:prstGeom>
          <a:solidFill>
            <a:srgbClr val="16244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59893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心得：脚本化&gt;对话式，一次编写脚本可多次复用迭代；数据→图表→文字全链路自动化是最大突破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37160" y="13716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914632" y="13716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37160" y="658368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914632" y="658368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4552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技术研究报告 — 深度生成与知识库沉淀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效率提升10倍，脚本化+图表+知识库形成闭环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3474720" cy="1188720"/>
          </a:xfrm>
          <a:prstGeom prst="rect">
            <a:avLst>
              <a:gd name="adj" fmla="val 6154"/>
            </a:avLst>
          </a:prstGeom>
          <a:solidFill>
            <a:srgbClr val="0F1B2E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051560"/>
            <a:ext cx="548640" cy="548640"/>
          </a:xfrm>
          <a:prstGeom prst="ellipse">
            <a:avLst/>
          </a:prstGeom>
          <a:solidFill>
            <a:srgbClr val="3B82F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097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1005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单元级规则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87条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1508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终端/表计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单设备故障诊断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06240" y="1508760"/>
            <a:ext cx="320040" cy="0"/>
          </a:xfrm>
          <a:prstGeom prst="line">
            <a:avLst/>
          </a:prstGeom>
          <a:noFill/>
          <a:ln w="31750">
            <a:solidFill>
              <a:srgbClr val="D4A84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71416" y="1453896"/>
            <a:ext cx="109728" cy="109728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914400"/>
            <a:ext cx="3474720" cy="1188720"/>
          </a:xfrm>
          <a:prstGeom prst="rect">
            <a:avLst>
              <a:gd name="adj" fmla="val 6154"/>
            </a:avLst>
          </a:prstGeom>
          <a:solidFill>
            <a:srgbClr val="0F1B2E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051560"/>
            <a:ext cx="548640" cy="548640"/>
          </a:xfrm>
          <a:prstGeom prst="ellipse">
            <a:avLst/>
          </a:prstGeom>
          <a:solidFill>
            <a:srgbClr val="D4A843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097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94960" y="1005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设备级规则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34条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94960" y="1508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多参数关联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健康状态评估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0" y="1508760"/>
            <a:ext cx="320040" cy="0"/>
          </a:xfrm>
          <a:prstGeom prst="line">
            <a:avLst/>
          </a:prstGeom>
          <a:noFill/>
          <a:ln w="31750">
            <a:solidFill>
              <a:srgbClr val="D4A84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11896" y="1453896"/>
            <a:ext cx="109728" cy="109728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0" y="914400"/>
            <a:ext cx="3474720" cy="1188720"/>
          </a:xfrm>
          <a:prstGeom prst="rect">
            <a:avLst>
              <a:gd name="adj" fmla="val 6154"/>
            </a:avLst>
          </a:prstGeom>
          <a:solidFill>
            <a:srgbClr val="0F1B2E"/>
          </a:solidFill>
          <a:ln w="25400">
            <a:solidFill>
              <a:srgbClr val="2DD4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1051560"/>
            <a:ext cx="548640" cy="548640"/>
          </a:xfrm>
          <a:prstGeom prst="ellipse">
            <a:avLst/>
          </a:prstGeom>
          <a:solidFill>
            <a:srgbClr val="2DD4BF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9640" y="1097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35440" y="1005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台区级规则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19条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35440" y="1508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区域级故障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定位与预警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331720"/>
            <a:ext cx="5486400" cy="914400"/>
          </a:xfrm>
          <a:prstGeom prst="rect">
            <a:avLst>
              <a:gd name="adj" fmla="val 8000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3774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模型推导流程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2743200"/>
            <a:ext cx="914400" cy="411480"/>
          </a:xfrm>
          <a:prstGeom prst="rect">
            <a:avLst>
              <a:gd name="adj" fmla="val 13333"/>
            </a:avLst>
          </a:prstGeom>
          <a:solidFill>
            <a:srgbClr val="162447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2788920"/>
            <a:ext cx="768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数据收集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45920" y="2944368"/>
            <a:ext cx="118872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09928" y="2889504"/>
            <a:ext cx="109728" cy="109728"/>
          </a:xfrm>
          <a:prstGeom prst="rect">
            <a:avLst/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83080" y="2743200"/>
            <a:ext cx="914400" cy="411480"/>
          </a:xfrm>
          <a:prstGeom prst="rect">
            <a:avLst>
              <a:gd name="adj" fmla="val 13333"/>
            </a:avLst>
          </a:prstGeom>
          <a:solidFill>
            <a:srgbClr val="162447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56232" y="2788920"/>
            <a:ext cx="768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特征工程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697480" y="2944368"/>
            <a:ext cx="118872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61488" y="2889504"/>
            <a:ext cx="109728" cy="109728"/>
          </a:xfrm>
          <a:prstGeom prst="rect">
            <a:avLst/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34640" y="2743200"/>
            <a:ext cx="914400" cy="411480"/>
          </a:xfrm>
          <a:prstGeom prst="rect">
            <a:avLst>
              <a:gd name="adj" fmla="val 13333"/>
            </a:avLst>
          </a:prstGeom>
          <a:solidFill>
            <a:srgbClr val="162447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07792" y="2788920"/>
            <a:ext cx="768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CHI/Arrhenius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模型推导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749040" y="2944368"/>
            <a:ext cx="118872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13048" y="2889504"/>
            <a:ext cx="109728" cy="109728"/>
          </a:xfrm>
          <a:prstGeom prst="rect">
            <a:avLst/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86200" y="2743200"/>
            <a:ext cx="914400" cy="411480"/>
          </a:xfrm>
          <a:prstGeom prst="rect">
            <a:avLst>
              <a:gd name="adj" fmla="val 13333"/>
            </a:avLst>
          </a:prstGeom>
          <a:solidFill>
            <a:srgbClr val="162447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59352" y="2788920"/>
            <a:ext cx="768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规则提取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与验证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00600" y="2944368"/>
            <a:ext cx="118872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64608" y="2889504"/>
            <a:ext cx="109728" cy="109728"/>
          </a:xfrm>
          <a:prstGeom prst="rect">
            <a:avLst/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37760" y="2743200"/>
            <a:ext cx="914400" cy="411480"/>
          </a:xfrm>
          <a:prstGeom prst="rect">
            <a:avLst>
              <a:gd name="adj" fmla="val 13333"/>
            </a:avLst>
          </a:prstGeom>
          <a:solidFill>
            <a:srgbClr val="162447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10912" y="2788920"/>
            <a:ext cx="768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报告生成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09360" y="2331720"/>
            <a:ext cx="5120640" cy="914400"/>
          </a:xfrm>
          <a:prstGeom prst="rect">
            <a:avLst>
              <a:gd name="adj" fmla="val 8000"/>
            </a:avLst>
          </a:prstGeom>
          <a:solidFill>
            <a:srgbClr val="0F1B2E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240" y="23774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知识沉淀闭环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583680" y="2743200"/>
            <a:ext cx="822960" cy="411480"/>
          </a:xfrm>
          <a:prstGeom prst="rect">
            <a:avLst>
              <a:gd name="adj" fmla="val 13333"/>
            </a:avLst>
          </a:prstGeom>
          <a:solidFill>
            <a:srgbClr val="162447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56832" y="2788920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技术报告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406640" y="2944368"/>
            <a:ext cx="118872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70648" y="2889504"/>
            <a:ext cx="109728" cy="109728"/>
          </a:xfrm>
          <a:prstGeom prst="rect">
            <a:avLst/>
          </a:prstGeom>
          <a:solidFill>
            <a:srgbClr val="2DD4BF"/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43800" y="2743200"/>
            <a:ext cx="822960" cy="411480"/>
          </a:xfrm>
          <a:prstGeom prst="rect">
            <a:avLst>
              <a:gd name="adj" fmla="val 13333"/>
            </a:avLst>
          </a:prstGeom>
          <a:solidFill>
            <a:srgbClr val="162447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16952" y="2788920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IMA归档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366760" y="2944368"/>
            <a:ext cx="118872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430768" y="2889504"/>
            <a:ext cx="109728" cy="109728"/>
          </a:xfrm>
          <a:prstGeom prst="rect">
            <a:avLst/>
          </a:prstGeom>
          <a:solidFill>
            <a:srgbClr val="2DD4BF"/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503920" y="2743200"/>
            <a:ext cx="822960" cy="411480"/>
          </a:xfrm>
          <a:prstGeom prst="rect">
            <a:avLst>
              <a:gd name="adj" fmla="val 13333"/>
            </a:avLst>
          </a:prstGeom>
          <a:solidFill>
            <a:srgbClr val="162447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577072" y="2788920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知识复用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9326880" y="2944368"/>
            <a:ext cx="118872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390888" y="2889504"/>
            <a:ext cx="109728" cy="109728"/>
          </a:xfrm>
          <a:prstGeom prst="rect">
            <a:avLst/>
          </a:prstGeom>
          <a:solidFill>
            <a:srgbClr val="2DD4BF"/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464040" y="2743200"/>
            <a:ext cx="822960" cy="411480"/>
          </a:xfrm>
          <a:prstGeom prst="rect">
            <a:avLst>
              <a:gd name="adj" fmla="val 13333"/>
            </a:avLst>
          </a:prstGeom>
          <a:solidFill>
            <a:srgbClr val="162447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537192" y="2788920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新项目注入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0287000" y="2944368"/>
            <a:ext cx="118872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351008" y="2889504"/>
            <a:ext cx="109728" cy="109728"/>
          </a:xfrm>
          <a:prstGeom prst="rect">
            <a:avLst/>
          </a:prstGeom>
          <a:solidFill>
            <a:srgbClr val="2DD4BF"/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424160" y="2743200"/>
            <a:ext cx="822960" cy="411480"/>
          </a:xfrm>
          <a:prstGeom prst="rect">
            <a:avLst>
              <a:gd name="adj" fmla="val 13333"/>
            </a:avLst>
          </a:prstGeom>
          <a:solidFill>
            <a:srgbClr val="162447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497312" y="2788920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持续迭代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57200" y="3474720"/>
            <a:ext cx="3657600" cy="2286000"/>
          </a:xfrm>
          <a:prstGeom prst="rect">
            <a:avLst>
              <a:gd name="adj" fmla="val 3200"/>
            </a:avLst>
          </a:prstGeom>
          <a:solidFill>
            <a:srgbClr val="0F1B2E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3566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AI应用场景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640080" y="39319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140条规则库三层级设计（87+34+19）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40080" y="42062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CHI/Arrhenius模型推导与公式编排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40080" y="44805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技术报告深度生成：6章+数据分析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40080" y="47548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知识库沉淀：成果自动归档IMA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40080" y="50292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文献引用自动关联已入库研究成果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40080" y="53035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规则冲突检测与一致性校验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4389120" y="3474720"/>
            <a:ext cx="3657600" cy="2286000"/>
          </a:xfrm>
          <a:prstGeom prst="rect">
            <a:avLst>
              <a:gd name="adj" fmla="val 3200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72000" y="3566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核心成果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4572000" y="39319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规则库：140条（三层级完整设计）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4572000" y="42062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报告效率：提升10倍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4572000" y="44805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知识沉淀：IMA知识库自动归档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4572000" y="47548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AI工具：WorkBuddy + docx-js + IMA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4572000" y="50292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案例覆盖：终端故障/表计健康/台区诊断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8321040" y="3474720"/>
            <a:ext cx="3383280" cy="2286000"/>
          </a:xfrm>
          <a:prstGeom prst="rect">
            <a:avLst>
              <a:gd name="adj" fmla="val 3200"/>
            </a:avLst>
          </a:prstGeom>
          <a:solidFill>
            <a:srgbClr val="0F1B2E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503920" y="35661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扩展AI应用</a:t>
            </a:r>
            <a:endParaRPr lang="en-US" sz="1400" dirty="0"/>
          </a:p>
        </p:txBody>
      </p:sp>
      <p:sp>
        <p:nvSpPr>
          <p:cNvPr id="81" name="Text 79"/>
          <p:cNvSpPr/>
          <p:nvPr/>
        </p:nvSpPr>
        <p:spPr>
          <a:xfrm>
            <a:off x="8503920" y="3931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规则自动发现：基于数据挖掘新规则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8503920" y="42062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跨项目知识复用：相似技术自动迁移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503920" y="44805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技术评审自动化：AI预审+人工确认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8503920" y="47548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模型迭代优化：新数据→模型更新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503920" y="50292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技术路线对比：多方案优劣自动分析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457200" y="5943600"/>
            <a:ext cx="11274552" cy="365760"/>
          </a:xfrm>
          <a:prstGeom prst="rect">
            <a:avLst>
              <a:gd name="adj" fmla="val 20000"/>
            </a:avLst>
          </a:prstGeom>
          <a:solidFill>
            <a:srgbClr val="16244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40080" y="59893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心得：脚本化+图表+知识库形成完整闭环；技术深度内容AI辅助但核心推导需专家把关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137160" y="13716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914632" y="13716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37160" y="658368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914632" y="658368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4552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Demo原型设计 — 代码生成与可视化组件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原型周期2周→3天，周报已全自动化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057400" cy="1554480"/>
          </a:xfrm>
          <a:prstGeom prst="rect">
            <a:avLst>
              <a:gd name="adj" fmla="val 4706"/>
            </a:avLst>
          </a:prstGeom>
          <a:solidFill>
            <a:srgbClr val="0F1B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需求描述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功能/交互/数据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可视化要求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691640"/>
            <a:ext cx="256032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15768" y="1636776"/>
            <a:ext cx="109728" cy="109728"/>
          </a:xfrm>
          <a:prstGeom prst="rect">
            <a:avLst/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914400"/>
            <a:ext cx="2057400" cy="1554480"/>
          </a:xfrm>
          <a:prstGeom prst="rect">
            <a:avLst>
              <a:gd name="adj" fmla="val 4706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9601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AI代码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80360" y="155448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HTML/CSS/JS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Chart.js组件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691640"/>
            <a:ext cx="256032" cy="0"/>
          </a:xfrm>
          <a:prstGeom prst="line">
            <a:avLst/>
          </a:prstGeom>
          <a:noFill/>
          <a:ln w="31750">
            <a:solidFill>
              <a:srgbClr val="D4A84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47488" y="1636776"/>
            <a:ext cx="109728" cy="109728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914400"/>
            <a:ext cx="2057400" cy="1554480"/>
          </a:xfrm>
          <a:prstGeom prst="rect">
            <a:avLst>
              <a:gd name="adj" fmla="val 4706"/>
            </a:avLst>
          </a:prstGeom>
          <a:solidFill>
            <a:srgbClr val="0F1B2E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9601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0" y="155448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浏览器预览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交互测试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78040" y="1691640"/>
            <a:ext cx="256032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79208" y="1636776"/>
            <a:ext cx="109728" cy="109728"/>
          </a:xfrm>
          <a:prstGeom prst="rect">
            <a:avLst/>
          </a:prstGeom>
          <a:solidFill>
            <a:srgbClr val="2DD4BF"/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52360" y="914400"/>
            <a:ext cx="2057400" cy="1554480"/>
          </a:xfrm>
          <a:prstGeom prst="rect">
            <a:avLst>
              <a:gd name="adj" fmla="val 4706"/>
            </a:avLst>
          </a:prstGeom>
          <a:solidFill>
            <a:srgbClr val="0F1B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9601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43800" y="155448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调试/美化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功能完善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509760" y="1691640"/>
            <a:ext cx="256032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10928" y="1636776"/>
            <a:ext cx="109728" cy="109728"/>
          </a:xfrm>
          <a:prstGeom prst="rect">
            <a:avLst/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84080" y="914400"/>
            <a:ext cx="2057400" cy="1554480"/>
          </a:xfrm>
          <a:prstGeom prst="rect">
            <a:avLst>
              <a:gd name="adj" fmla="val 4706"/>
            </a:avLst>
          </a:prstGeom>
          <a:solidFill>
            <a:srgbClr val="0F1B2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29800" y="9601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75520" y="155448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在线演示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文件分发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697480"/>
            <a:ext cx="5486400" cy="822960"/>
          </a:xfrm>
          <a:prstGeom prst="rect">
            <a:avLst>
              <a:gd name="adj" fmla="val 8889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743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IDP可视化系统（idp_v3.html）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" y="3108960"/>
            <a:ext cx="914400" cy="320040"/>
          </a:xfrm>
          <a:prstGeom prst="rect">
            <a:avLst>
              <a:gd name="adj" fmla="val 17143"/>
            </a:avLst>
          </a:prstGeom>
          <a:solidFill>
            <a:srgbClr val="162447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" y="3154680"/>
            <a:ext cx="768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12人数据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645920" y="3264408"/>
            <a:ext cx="9144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82496" y="3209544"/>
            <a:ext cx="109728" cy="109728"/>
          </a:xfrm>
          <a:prstGeom prst="rect">
            <a:avLst/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55648" y="3108960"/>
            <a:ext cx="914400" cy="320040"/>
          </a:xfrm>
          <a:prstGeom prst="rect">
            <a:avLst>
              <a:gd name="adj" fmla="val 17143"/>
            </a:avLst>
          </a:prstGeom>
          <a:solidFill>
            <a:srgbClr val="162447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0" y="3154680"/>
            <a:ext cx="768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技能雷达图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670048" y="3264408"/>
            <a:ext cx="9144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06624" y="3209544"/>
            <a:ext cx="109728" cy="109728"/>
          </a:xfrm>
          <a:prstGeom prst="rect">
            <a:avLst/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79776" y="3108960"/>
            <a:ext cx="914400" cy="320040"/>
          </a:xfrm>
          <a:prstGeom prst="rect">
            <a:avLst>
              <a:gd name="adj" fmla="val 17143"/>
            </a:avLst>
          </a:prstGeom>
          <a:solidFill>
            <a:srgbClr val="162447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52928" y="3154680"/>
            <a:ext cx="768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发展路径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94176" y="3264408"/>
            <a:ext cx="9144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30752" y="3209544"/>
            <a:ext cx="109728" cy="109728"/>
          </a:xfrm>
          <a:prstGeom prst="rect">
            <a:avLst/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03904" y="3108960"/>
            <a:ext cx="914400" cy="320040"/>
          </a:xfrm>
          <a:prstGeom prst="rect">
            <a:avLst>
              <a:gd name="adj" fmla="val 17143"/>
            </a:avLst>
          </a:prstGeom>
          <a:solidFill>
            <a:srgbClr val="162447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77056" y="3154680"/>
            <a:ext cx="768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目标追踪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18304" y="3264408"/>
            <a:ext cx="9144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3209544"/>
            <a:ext cx="109728" cy="109728"/>
          </a:xfrm>
          <a:prstGeom prst="rect">
            <a:avLst/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28032" y="3108960"/>
            <a:ext cx="914400" cy="320040"/>
          </a:xfrm>
          <a:prstGeom prst="rect">
            <a:avLst>
              <a:gd name="adj" fmla="val 17143"/>
            </a:avLst>
          </a:prstGeom>
          <a:solidFill>
            <a:srgbClr val="162447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01184" y="3154680"/>
            <a:ext cx="768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HTML周报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309360" y="2697480"/>
            <a:ext cx="5120640" cy="822960"/>
          </a:xfrm>
          <a:prstGeom prst="rect">
            <a:avLst>
              <a:gd name="adj" fmla="val 8889"/>
            </a:avLst>
          </a:prstGeom>
          <a:solidFill>
            <a:srgbClr val="0F1B2E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92240" y="27432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周报自动化系统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583680" y="3108960"/>
            <a:ext cx="822960" cy="320040"/>
          </a:xfrm>
          <a:prstGeom prst="rect">
            <a:avLst>
              <a:gd name="adj" fmla="val 17143"/>
            </a:avLst>
          </a:prstGeom>
          <a:solidFill>
            <a:srgbClr val="162447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56832" y="3154680"/>
            <a:ext cx="676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数据汇总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406640" y="3264408"/>
            <a:ext cx="118872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470648" y="3209544"/>
            <a:ext cx="109728" cy="109728"/>
          </a:xfrm>
          <a:prstGeom prst="rect">
            <a:avLst/>
          </a:prstGeom>
          <a:solidFill>
            <a:srgbClr val="2DD4BF"/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543800" y="3108960"/>
            <a:ext cx="822960" cy="320040"/>
          </a:xfrm>
          <a:prstGeom prst="rect">
            <a:avLst>
              <a:gd name="adj" fmla="val 17143"/>
            </a:avLst>
          </a:prstGeom>
          <a:solidFill>
            <a:srgbClr val="162447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16952" y="3154680"/>
            <a:ext cx="676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366760" y="3264408"/>
            <a:ext cx="118872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430768" y="3209544"/>
            <a:ext cx="109728" cy="109728"/>
          </a:xfrm>
          <a:prstGeom prst="rect">
            <a:avLst/>
          </a:prstGeom>
          <a:solidFill>
            <a:srgbClr val="2DD4BF"/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503920" y="3108960"/>
            <a:ext cx="822960" cy="320040"/>
          </a:xfrm>
          <a:prstGeom prst="rect">
            <a:avLst>
              <a:gd name="adj" fmla="val 17143"/>
            </a:avLst>
          </a:prstGeom>
          <a:solidFill>
            <a:srgbClr val="162447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577072" y="3154680"/>
            <a:ext cx="676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HTML格式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326880" y="3264408"/>
            <a:ext cx="118872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390888" y="3209544"/>
            <a:ext cx="109728" cy="109728"/>
          </a:xfrm>
          <a:prstGeom prst="rect">
            <a:avLst/>
          </a:prstGeom>
          <a:solidFill>
            <a:srgbClr val="2DD4BF"/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464040" y="3108960"/>
            <a:ext cx="822960" cy="320040"/>
          </a:xfrm>
          <a:prstGeom prst="rect">
            <a:avLst>
              <a:gd name="adj" fmla="val 17143"/>
            </a:avLst>
          </a:prstGeom>
          <a:solidFill>
            <a:srgbClr val="162447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537192" y="3154680"/>
            <a:ext cx="676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邮件分发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0287000" y="3264408"/>
            <a:ext cx="118872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351008" y="3209544"/>
            <a:ext cx="109728" cy="109728"/>
          </a:xfrm>
          <a:prstGeom prst="rect">
            <a:avLst/>
          </a:prstGeom>
          <a:solidFill>
            <a:srgbClr val="2DD4BF"/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424160" y="3108960"/>
            <a:ext cx="822960" cy="320040"/>
          </a:xfrm>
          <a:prstGeom prst="rect">
            <a:avLst>
              <a:gd name="adj" fmla="val 17143"/>
            </a:avLst>
          </a:prstGeom>
          <a:solidFill>
            <a:srgbClr val="162447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497312" y="3154680"/>
            <a:ext cx="676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自动归档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57200" y="3749040"/>
            <a:ext cx="3657600" cy="2011680"/>
          </a:xfrm>
          <a:prstGeom prst="rect">
            <a:avLst>
              <a:gd name="adj" fmla="val 3636"/>
            </a:avLst>
          </a:prstGeom>
          <a:solidFill>
            <a:srgbClr val="0F1B2E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0080" y="3840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AI应用场景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640080" y="42062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IDP可视化：个人发展路径可视化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40080" y="4498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周报HTML自动分发：邮件兼容格式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640080" y="47914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交互式可视化组件：Chart.js动态图表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640080" y="50840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原型快速迭代：AI生成→人工调试→验证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640080" y="537667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设计规范与组件库统一沉淀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389120" y="3749040"/>
            <a:ext cx="3657600" cy="2011680"/>
          </a:xfrm>
          <a:prstGeom prst="rect">
            <a:avLst>
              <a:gd name="adj" fmla="val 3636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72000" y="3840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核心成果</a:t>
            </a:r>
            <a:endParaRPr lang="en-US" sz="1400" dirty="0"/>
          </a:p>
        </p:txBody>
      </p:sp>
      <p:sp>
        <p:nvSpPr>
          <p:cNvPr id="77" name="Text 75"/>
          <p:cNvSpPr/>
          <p:nvPr/>
        </p:nvSpPr>
        <p:spPr>
          <a:xfrm>
            <a:off x="4572000" y="42062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原型周期：2周→3天（↓85%）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4572000" y="4498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周报自动化：100%无人干预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4572000" y="47914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IDP系统：12人团队全覆盖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572000" y="50840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AI工具：WorkBuddy + HTML/JS + Chart.js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8321040" y="3749040"/>
            <a:ext cx="3383280" cy="2011680"/>
          </a:xfrm>
          <a:prstGeom prst="rect">
            <a:avLst>
              <a:gd name="adj" fmla="val 3636"/>
            </a:avLst>
          </a:prstGeom>
          <a:solidFill>
            <a:srgbClr val="0F1B2E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503920" y="3840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扩展AI应用</a:t>
            </a:r>
            <a:endParaRPr lang="en-US" sz="1400" dirty="0"/>
          </a:p>
        </p:txBody>
      </p:sp>
      <p:sp>
        <p:nvSpPr>
          <p:cNvPr id="83" name="Text 81"/>
          <p:cNvSpPr/>
          <p:nvPr/>
        </p:nvSpPr>
        <p:spPr>
          <a:xfrm>
            <a:off x="8503920" y="420624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交互式Demo：可操作原型+用户测试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8503920" y="449884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在线评审：远程实时协作评审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503920" y="479145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多端适配：PC/移动端自适应原型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8503920" y="508406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组件市场：通用组件库沉淀复用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457200" y="5943600"/>
            <a:ext cx="11274552" cy="365760"/>
          </a:xfrm>
          <a:prstGeom prst="rect">
            <a:avLst>
              <a:gd name="adj" fmla="val 20000"/>
            </a:avLst>
          </a:prstGeom>
          <a:solidFill>
            <a:srgbClr val="16244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40080" y="59893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心得：AI前端原型效果最好，复杂业务逻辑仍需调试；HTML周报格式是邮件分发的最佳实践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137160" y="13716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914632" y="13716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37160" y="658368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914632" y="658368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4552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AI工具链架构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× IMA 知识库 联动方案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1274552" cy="1188720"/>
          </a:xfrm>
          <a:prstGeom prst="rect">
            <a:avLst>
              <a:gd name="adj" fmla="val 6154"/>
            </a:avLst>
          </a:prstGeom>
          <a:solidFill>
            <a:srgbClr val="0F1B2E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645920" cy="11887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377440" y="1234440"/>
            <a:ext cx="1737360" cy="548640"/>
          </a:xfrm>
          <a:prstGeom prst="rect">
            <a:avLst>
              <a:gd name="adj" fmla="val 10000"/>
            </a:avLst>
          </a:prstGeom>
          <a:solidFill>
            <a:srgbClr val="162447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128016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申报简表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7680" y="1234440"/>
            <a:ext cx="1737360" cy="548640"/>
          </a:xfrm>
          <a:prstGeom prst="rect">
            <a:avLst>
              <a:gd name="adj" fmla="val 10000"/>
            </a:avLst>
          </a:prstGeom>
          <a:solidFill>
            <a:srgbClr val="162447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70832" y="128016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指南编写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234440"/>
            <a:ext cx="1737360" cy="548640"/>
          </a:xfrm>
          <a:prstGeom prst="rect">
            <a:avLst>
              <a:gd name="adj" fmla="val 10000"/>
            </a:avLst>
          </a:prstGeom>
          <a:solidFill>
            <a:srgbClr val="162447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91072" y="128016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可研报告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138160" y="1234440"/>
            <a:ext cx="1737360" cy="548640"/>
          </a:xfrm>
          <a:prstGeom prst="rect">
            <a:avLst>
              <a:gd name="adj" fmla="val 10000"/>
            </a:avLst>
          </a:prstGeom>
          <a:solidFill>
            <a:srgbClr val="162447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1312" y="128016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技术报告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058400" y="1234440"/>
            <a:ext cx="1737360" cy="548640"/>
          </a:xfrm>
          <a:prstGeom prst="rect">
            <a:avLst>
              <a:gd name="adj" fmla="val 10000"/>
            </a:avLst>
          </a:prstGeom>
          <a:solidFill>
            <a:srgbClr val="162447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31552" y="128016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Demo原型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0" y="2103120"/>
            <a:ext cx="9144" cy="0"/>
          </a:xfrm>
          <a:prstGeom prst="line">
            <a:avLst/>
          </a:prstGeom>
          <a:noFill/>
          <a:ln w="31750">
            <a:solidFill>
              <a:srgbClr val="D4A8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11880" y="2048256"/>
            <a:ext cx="109728" cy="109728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2103120"/>
            <a:ext cx="9144" cy="0"/>
          </a:xfrm>
          <a:prstGeom prst="line">
            <a:avLst/>
          </a:prstGeom>
          <a:noFill/>
          <a:ln w="31750">
            <a:solidFill>
              <a:srgbClr val="D4A84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2048256"/>
            <a:ext cx="109728" cy="109728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2103120"/>
            <a:ext cx="9144" cy="0"/>
          </a:xfrm>
          <a:prstGeom prst="line">
            <a:avLst/>
          </a:prstGeom>
          <a:noFill/>
          <a:ln w="31750">
            <a:solidFill>
              <a:srgbClr val="D4A84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98280" y="2048256"/>
            <a:ext cx="109728" cy="109728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286000"/>
            <a:ext cx="11274552" cy="1188720"/>
          </a:xfrm>
          <a:prstGeom prst="rect">
            <a:avLst>
              <a:gd name="adj" fmla="val 6154"/>
            </a:avLst>
          </a:prstGeom>
          <a:solidFill>
            <a:srgbClr val="0F1B2E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286000"/>
            <a:ext cx="1645920" cy="1188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606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377440" y="2606040"/>
            <a:ext cx="1737360" cy="548640"/>
          </a:xfrm>
          <a:prstGeom prst="rect">
            <a:avLst>
              <a:gd name="adj" fmla="val 10000"/>
            </a:avLst>
          </a:prstGeom>
          <a:solidFill>
            <a:srgbClr val="162447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50592" y="265176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97680" y="2606040"/>
            <a:ext cx="1737360" cy="548640"/>
          </a:xfrm>
          <a:prstGeom prst="rect">
            <a:avLst>
              <a:gd name="adj" fmla="val 10000"/>
            </a:avLst>
          </a:prstGeom>
          <a:solidFill>
            <a:srgbClr val="162447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70832" y="265176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IMA知识库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17920" y="2606040"/>
            <a:ext cx="1737360" cy="548640"/>
          </a:xfrm>
          <a:prstGeom prst="rect">
            <a:avLst>
              <a:gd name="adj" fmla="val 10000"/>
            </a:avLst>
          </a:prstGeom>
          <a:solidFill>
            <a:srgbClr val="162447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91072" y="265176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docx-js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138160" y="2606040"/>
            <a:ext cx="1737360" cy="548640"/>
          </a:xfrm>
          <a:prstGeom prst="rect">
            <a:avLst>
              <a:gd name="adj" fmla="val 10000"/>
            </a:avLst>
          </a:prstGeom>
          <a:solidFill>
            <a:srgbClr val="162447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11312" y="265176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PptxGenJS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0058400" y="2606040"/>
            <a:ext cx="1737360" cy="548640"/>
          </a:xfrm>
          <a:prstGeom prst="rect">
            <a:avLst>
              <a:gd name="adj" fmla="val 10000"/>
            </a:avLst>
          </a:prstGeom>
          <a:solidFill>
            <a:srgbClr val="162447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131552" y="265176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Chart.js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0" y="3474720"/>
            <a:ext cx="9144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11880" y="3419856"/>
            <a:ext cx="109728" cy="109728"/>
          </a:xfrm>
          <a:prstGeom prst="rect">
            <a:avLst/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0" y="3474720"/>
            <a:ext cx="9144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55080" y="3419856"/>
            <a:ext cx="109728" cy="109728"/>
          </a:xfrm>
          <a:prstGeom prst="rect">
            <a:avLst/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44000" y="3474720"/>
            <a:ext cx="9144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98280" y="3419856"/>
            <a:ext cx="109728" cy="109728"/>
          </a:xfrm>
          <a:prstGeom prst="rect">
            <a:avLst/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3657600"/>
            <a:ext cx="11274552" cy="1188720"/>
          </a:xfrm>
          <a:prstGeom prst="rect">
            <a:avLst>
              <a:gd name="adj" fmla="val 6154"/>
            </a:avLst>
          </a:prstGeom>
          <a:solidFill>
            <a:srgbClr val="0F1B2E"/>
          </a:solidFill>
          <a:ln w="25400">
            <a:solidFill>
              <a:srgbClr val="2DD4B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" y="3657600"/>
            <a:ext cx="1645920" cy="1188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977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2377440" y="3977640"/>
            <a:ext cx="1737360" cy="548640"/>
          </a:xfrm>
          <a:prstGeom prst="rect">
            <a:avLst>
              <a:gd name="adj" fmla="val 10000"/>
            </a:avLst>
          </a:prstGeom>
          <a:solidFill>
            <a:srgbClr val="162447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50592" y="402336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中国科技云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297680" y="3977640"/>
            <a:ext cx="1737360" cy="548640"/>
          </a:xfrm>
          <a:prstGeom prst="rect">
            <a:avLst>
              <a:gd name="adj" fmla="val 10000"/>
            </a:avLst>
          </a:prstGeom>
          <a:solidFill>
            <a:srgbClr val="162447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70832" y="402336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Bing学术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17920" y="3977640"/>
            <a:ext cx="1737360" cy="548640"/>
          </a:xfrm>
          <a:prstGeom prst="rect">
            <a:avLst>
              <a:gd name="adj" fmla="val 10000"/>
            </a:avLst>
          </a:prstGeom>
          <a:solidFill>
            <a:srgbClr val="162447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91072" y="402336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政策文档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138160" y="3977640"/>
            <a:ext cx="1737360" cy="548640"/>
          </a:xfrm>
          <a:prstGeom prst="rect">
            <a:avLst>
              <a:gd name="adj" fmla="val 10000"/>
            </a:avLst>
          </a:prstGeom>
          <a:solidFill>
            <a:srgbClr val="162447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11312" y="402336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项目数据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0058400" y="3977640"/>
            <a:ext cx="1737360" cy="548640"/>
          </a:xfrm>
          <a:prstGeom prst="rect">
            <a:avLst>
              <a:gd name="adj" fmla="val 10000"/>
            </a:avLst>
          </a:prstGeom>
          <a:solidFill>
            <a:srgbClr val="162447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131552" y="402336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团队知识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7200" y="5120640"/>
            <a:ext cx="11274552" cy="548640"/>
          </a:xfrm>
          <a:prstGeom prst="rect">
            <a:avLst>
              <a:gd name="adj" fmla="val 13333"/>
            </a:avLst>
          </a:prstGeom>
          <a:solidFill>
            <a:srgbClr val="162447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080" y="5166360"/>
            <a:ext cx="1090879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闭环回流：WorkBuddy ↔ IMA 知识库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640080" y="5413248"/>
            <a:ext cx="109087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正向：WorkBuddy → IMA（文献清洗→分类标签→自动导入知识库）    反向：IMA → WorkBuddy（检索知识库→AI分析整合→生成报告）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137160" y="13716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914632" y="13716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37160" y="658368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914632" y="658368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4552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核心成果数据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效率提升与质量改善量化指标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057400" cy="1463040"/>
          </a:xfrm>
          <a:prstGeom prst="rect">
            <a:avLst>
              <a:gd name="adj" fmla="val 5000"/>
            </a:avLst>
          </a:prstGeom>
          <a:solidFill>
            <a:srgbClr val="0F1B2E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10x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技术报告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生成效率提升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61488" y="914400"/>
            <a:ext cx="2057400" cy="1463040"/>
          </a:xfrm>
          <a:prstGeom prst="rect">
            <a:avLst>
              <a:gd name="adj" fmla="val 5000"/>
            </a:avLst>
          </a:prstGeom>
          <a:solidFill>
            <a:srgbClr val="0F1B2E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61488" y="10515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761488" y="160020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申报简表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61488" y="187452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起草时间缩短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65776" y="914400"/>
            <a:ext cx="2057400" cy="1463040"/>
          </a:xfrm>
          <a:prstGeom prst="rect">
            <a:avLst>
              <a:gd name="adj" fmla="val 5000"/>
            </a:avLst>
          </a:prstGeom>
          <a:solidFill>
            <a:srgbClr val="0F1B2E"/>
          </a:solidFill>
          <a:ln w="254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0515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5x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065776" y="160020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指南编写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65776" y="187452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编写效率提升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70064" y="914400"/>
            <a:ext cx="2057400" cy="1463040"/>
          </a:xfrm>
          <a:prstGeom prst="rect">
            <a:avLst>
              <a:gd name="adj" fmla="val 5000"/>
            </a:avLst>
          </a:prstGeom>
          <a:solidFill>
            <a:srgbClr val="0F1B2E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70064" y="10515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7x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370064" y="160020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可研报告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70064" y="187452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生成效率提升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674352" y="914400"/>
            <a:ext cx="2057400" cy="1463040"/>
          </a:xfrm>
          <a:prstGeom prst="rect">
            <a:avLst>
              <a:gd name="adj" fmla="val 5000"/>
            </a:avLst>
          </a:prstGeom>
          <a:solidFill>
            <a:srgbClr val="0F1B2E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74352" y="10515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674352" y="160020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Demo原型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74352" y="187452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开发周期缩短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651760"/>
            <a:ext cx="11274552" cy="3017520"/>
          </a:xfrm>
          <a:prstGeom prst="rect">
            <a:avLst>
              <a:gd name="adj" fmla="val 2424"/>
            </a:avLst>
          </a:prstGeom>
          <a:solidFill>
            <a:srgbClr val="0F1B2E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2743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各环节效率对比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108960"/>
          <a:ext cx="1090879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463040"/>
                <a:gridCol w="1188720"/>
                <a:gridCol w="1463040"/>
                <a:gridCol w="2286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4A8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4A8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传统模式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4A8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AI辅助模式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4A8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效率提升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4A8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质量改善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4A8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扩展潜力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申报简表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2-3天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↓83%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通过率80%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智能查重+评审模拟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指南编写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1-2天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↑5x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对齐度95%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A/B测试+自动评审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可研报告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↑7x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图表22张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模板复用+自动校审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技术报告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1-2天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↑10x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140规则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知识复用+规则发现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Demo原型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↑85%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交互可视化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组件市场+在线评审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137160" y="13716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1914632" y="13716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37160" y="658368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1914632" y="658368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4552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实践心得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6条核心经验总结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566160" cy="2011680"/>
          </a:xfrm>
          <a:prstGeom prst="rect">
            <a:avLst>
              <a:gd name="adj" fmla="val 3636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051560"/>
            <a:ext cx="411480" cy="411480"/>
          </a:xfrm>
          <a:prstGeom prst="ellipse">
            <a:avLst/>
          </a:prstGeom>
          <a:solidFill>
            <a:srgbClr val="D4A843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972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脚本化 &gt; 对话式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一次编写脚本可多次复用迭代，效率远超逐轮对话。docx-js/PptxGenJS脚本化生成是效率倍增的关键。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914400"/>
            <a:ext cx="3566160" cy="2011680"/>
          </a:xfrm>
          <a:prstGeom prst="rect">
            <a:avLst>
              <a:gd name="adj" fmla="val 3636"/>
            </a:avLst>
          </a:prstGeom>
          <a:solidFill>
            <a:srgbClr val="0F1B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051560"/>
            <a:ext cx="411480" cy="411480"/>
          </a:xfrm>
          <a:prstGeom prst="ellipse">
            <a:avLst/>
          </a:prstGeom>
          <a:solidFill>
            <a:srgbClr val="3B82F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0972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知识库是核心基础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34840" y="155448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AI知识生产基础库（中国科技云+Bing学术）是所有工作的前提，双路径采集确保知识质量与覆盖面。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38160" y="914400"/>
            <a:ext cx="3566160" cy="2011680"/>
          </a:xfrm>
          <a:prstGeom prst="rect">
            <a:avLst>
              <a:gd name="adj" fmla="val 3636"/>
            </a:avLst>
          </a:prstGeom>
          <a:solidFill>
            <a:srgbClr val="0F1B2E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5320" y="1051560"/>
            <a:ext cx="411480" cy="411480"/>
          </a:xfrm>
          <a:prstGeom prst="ellipse">
            <a:avLst/>
          </a:prstGeom>
          <a:solidFill>
            <a:srgbClr val="2DD4BF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10972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782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模板库是关键前提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75320" y="155448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历史材料沉淀越丰富，AI生成效果越好，质量越稳定。IMA知识库的模板复用率已达70%以上。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3566160" cy="2011680"/>
          </a:xfrm>
          <a:prstGeom prst="rect">
            <a:avLst>
              <a:gd name="adj" fmla="val 3636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337560"/>
            <a:ext cx="411480" cy="411480"/>
          </a:xfrm>
          <a:prstGeom prst="ellipse">
            <a:avLst/>
          </a:prstGeom>
          <a:solidFill>
            <a:srgbClr val="D4A843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3832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337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数据→图表→文字全链路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" y="384048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从原始数据到分析报告的全自动化是最大突破点。matplotlib图表嵌入+docx-js文字编排形成完整闭环。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97680" y="3200400"/>
            <a:ext cx="3566160" cy="2011680"/>
          </a:xfrm>
          <a:prstGeom prst="rect">
            <a:avLst>
              <a:gd name="adj" fmla="val 3636"/>
            </a:avLst>
          </a:prstGeom>
          <a:solidFill>
            <a:srgbClr val="0F1B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34840" y="3337560"/>
            <a:ext cx="411480" cy="411480"/>
          </a:xfrm>
          <a:prstGeom prst="ellipse">
            <a:avLst/>
          </a:prstGeom>
          <a:solidFill>
            <a:srgbClr val="3B82F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34840" y="33832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3337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人工审核不可少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34840" y="384048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政策合规、技术深度、核心创新点必须专家把关。AI辅助可覆盖80%基础内容，20%核心需人工。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38160" y="3200400"/>
            <a:ext cx="3566160" cy="2011680"/>
          </a:xfrm>
          <a:prstGeom prst="rect">
            <a:avLst>
              <a:gd name="adj" fmla="val 3636"/>
            </a:avLst>
          </a:prstGeom>
          <a:solidFill>
            <a:srgbClr val="0F1B2E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75320" y="3337560"/>
            <a:ext cx="411480" cy="411480"/>
          </a:xfrm>
          <a:prstGeom prst="ellipse">
            <a:avLst/>
          </a:prstGeom>
          <a:solidFill>
            <a:srgbClr val="2DD4BF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75320" y="33832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778240" y="3337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前端原型效果最好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75320" y="384048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HTML/CSS/JS可视化组件是AI代码生成质量最高的领域。IDP系统和周报自动化是典型成功案例。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5669280"/>
            <a:ext cx="11274552" cy="457200"/>
          </a:xfrm>
          <a:prstGeom prst="rect">
            <a:avLst>
              <a:gd name="adj" fmla="val 16000"/>
            </a:avLst>
          </a:prstGeom>
          <a:solidFill>
            <a:srgbClr val="162447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7607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"真正的变化不是工具，而是工作流的重新定义"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37160" y="13716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914632" y="13716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7160" y="658368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4632" y="658368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4552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规划展望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三阶段深化路径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566160" cy="3474720"/>
          </a:xfrm>
          <a:prstGeom prst="rect">
            <a:avLst>
              <a:gd name="adj" fmla="val 2105"/>
            </a:avLst>
          </a:prstGeom>
          <a:solidFill>
            <a:srgbClr val="0F1B2E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356616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875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深化阶段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Q3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可研报告脚本全面标准化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PPT生成脚本模板库建设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技术报告自动生成优化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知识库双路径全面接入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657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申报简表智能查重上线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914400"/>
            <a:ext cx="3566160" cy="3474720"/>
          </a:xfrm>
          <a:prstGeom prst="rect">
            <a:avLst>
              <a:gd name="adj" fmla="val 2105"/>
            </a:avLst>
          </a:prstGeom>
          <a:solidFill>
            <a:srgbClr val="0F1B2E"/>
          </a:solidFill>
          <a:ln w="25400">
            <a:solidFill>
              <a:srgbClr val="2DD4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914400"/>
            <a:ext cx="3566160" cy="5029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9875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拓展阶段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97680" y="14630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Q4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80560" y="1828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跨项目知识库互联互通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80560" y="2286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团队AI能力培训体系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0560" y="2743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多区域项目协同模板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0560" y="3200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智能评审辅助工具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0560" y="3657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指南编写自动评审系统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38160" y="914400"/>
            <a:ext cx="3566160" cy="3474720"/>
          </a:xfrm>
          <a:prstGeom prst="rect">
            <a:avLst>
              <a:gd name="adj" fmla="val 2105"/>
            </a:avLst>
          </a:prstGeom>
          <a:solidFill>
            <a:srgbClr val="0F1B2E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0" y="914400"/>
            <a:ext cx="3566160" cy="5029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0" y="9875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固化阶段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138160" y="14630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21040" y="1828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全流程自动化流水线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21040" y="2286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AI辅助决策支持系统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21040" y="2743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知识资产持续沉淀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21040" y="3200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团队AI成熟度评估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21040" y="3657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行业最佳实践输出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371600" y="4754880"/>
            <a:ext cx="10360152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0" y="4617720"/>
            <a:ext cx="274320" cy="274320"/>
          </a:xfrm>
          <a:prstGeom prst="ellipse">
            <a:avLst/>
          </a:prstGeom>
          <a:solidFill>
            <a:srgbClr val="D4A843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11680" y="49377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Q3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0" y="4617720"/>
            <a:ext cx="274320" cy="274320"/>
          </a:xfrm>
          <a:prstGeom prst="ellipse">
            <a:avLst/>
          </a:prstGeom>
          <a:solidFill>
            <a:srgbClr val="D4A843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0" y="49377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Q4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686800" y="4617720"/>
            <a:ext cx="274320" cy="274320"/>
          </a:xfrm>
          <a:prstGeom prst="ellipse">
            <a:avLst/>
          </a:prstGeom>
          <a:solidFill>
            <a:srgbClr val="D4A843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0" y="49377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37160" y="13716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4632" y="13716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7160" y="658368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914632" y="658368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35661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电网科创业务中心 · AI实践持续推进中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AI知识生产基础库 → WorkBuddy × IMA 联动方案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4846320"/>
            <a:ext cx="11274552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13716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14632" y="13716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" y="658368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14632" y="6583680"/>
            <a:ext cx="137160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科技项目全流程AI应用实践与心得</dc:title>
  <dc:subject>PptxGenJS Presentation</dc:subject>
  <dc:creator>科创业务中心</dc:creator>
  <cp:lastModifiedBy>科创业务中心</cp:lastModifiedBy>
  <cp:revision>1</cp:revision>
  <dcterms:created xsi:type="dcterms:W3CDTF">2026-06-07T09:21:39Z</dcterms:created>
  <dcterms:modified xsi:type="dcterms:W3CDTF">2026-06-07T09:21:39Z</dcterms:modified>
</cp:coreProperties>
</file>