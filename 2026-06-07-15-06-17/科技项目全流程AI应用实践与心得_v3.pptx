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科技项目全流程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AI应用实践与心得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从申报到交付的智能化升级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2396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47091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3960" y="47091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双路径学术知识采集架构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201168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5大环节AI应用全景图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201168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AI辅助框架搭建与会议流程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914400"/>
            <a:ext cx="201168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政策对齐与内容智能生成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201168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全量自动化生成与图表嵌入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2743200"/>
            <a:ext cx="201168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65176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技术研究报告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深度生成与知识库沉淀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201168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4632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Demo原型设计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代码生成与可视化组件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9440" y="2743200"/>
            <a:ext cx="201168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408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核心成果与心得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效率提升数据与实践总结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AI知识生产基础库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所有工作的核心基础 · 双路径学术知识采集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中国科技云学术智能体平台爬取方案验证通过，可稳定获取论文摘要、关键词、URL等结构化元数据；同步完成Bing学术爬取可行性确认，构建多源学术知识采集双路径。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2560320"/>
          </a:xfrm>
          <a:prstGeom prst="rect">
            <a:avLst>
              <a:gd name="adj" fmla="val 2857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3931920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路径一：中国科技云学术智能体平台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爬取方案验证通过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30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稳定获取论文摘要、关键词、URL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780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结构化元数据自动提取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25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高质量科研知识注入新通道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核心能力：论文摘要提取 | 关键词识别 | 元数据结构化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3566160" cy="256032"/>
          </a:xfrm>
          <a:prstGeom prst="rect">
            <a:avLst>
              <a:gd name="adj" fmla="val 14286"/>
            </a:avLst>
          </a:prstGeom>
          <a:solidFill>
            <a:srgbClr val="22C55E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47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状态：已验证通过，稳定运行中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3931920" cy="2560320"/>
          </a:xfrm>
          <a:prstGeom prst="rect">
            <a:avLst>
              <a:gd name="adj" fmla="val 214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路径二：Bing学术搜索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爬取可行性已确认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30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构建多源学术知识采集补充路径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4780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互补性知识覆盖（英文/国际文献）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825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跨语言知识融合能力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172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核心能力：国际文献检索 | 英文元数据 | 跨语言融合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520440"/>
            <a:ext cx="3566160" cy="256032"/>
          </a:xfrm>
          <a:prstGeom prst="rect">
            <a:avLst>
              <a:gd name="adj" fmla="val 14286"/>
            </a:avLst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547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状态：可行性确认，待接入WorkBuddy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6244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330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双路径汇聚 → 统一清洗 → 结构化存储 → IMA知识库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914400"/>
            <a:ext cx="265176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914400"/>
            <a:ext cx="265176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914400"/>
            <a:ext cx="265176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学术文献智能流转闭环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从人工爬取到智能报告，全流程自动化升级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传统手工模式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人工检索下载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手动整理分类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人工阅读提炼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手动编写报告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4-8 小时/10篇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自动化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粘贴/上传文献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AI自动清洗提取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智能分类标签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自动传入IMA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880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 5 分钟/10篇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文件上传通道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URL导入通道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笔记创建通道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结构化文献库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2880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全自动入库，零人工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闭环回流：WorkBuddy 反向调用 IMA 知识库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9136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发起分析请求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3913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34640" y="388620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9136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检索IMA知识库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913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88620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9136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AI分析整合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913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40880" y="388620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39136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输出报告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科技项目全流程 AI应用概览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5大环节 × 智能化升级路径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97280" y="1691640"/>
            <a:ext cx="640080" cy="6400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1691640"/>
            <a:ext cx="640080" cy="64008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640080" cy="640080"/>
          </a:xfrm>
          <a:prstGeom prst="ellipse">
            <a:avLst/>
          </a:prstGeom>
          <a:solidFill>
            <a:srgbClr val="D4A843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640080" cy="6400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80960" y="1691640"/>
            <a:ext cx="640080" cy="64008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92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人工检索下载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手动整理分类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人工阅读提炼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手动编写报告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292608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926080"/>
            <a:ext cx="265176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9992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自动化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AI自动清洗提取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204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智能分类标签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多文档交叉分析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自动格式化输出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292608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2926080"/>
            <a:ext cx="265176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9992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文件上传通道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URL导入通道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笔记创建通道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结构化文献库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申报简表 — AI辅助框架搭建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从2-3天缩短至0.5天，一次通过率80%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输入技术方案核心要点，AI自动生成简表框架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多版本快速迭代：调整参数→即时生成新版本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关键词与指标智能匹配，提升评审通过率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历史简表模板库复用，减少重复劳动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AI辅助会议：需求收集→政策研读→对标分析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2011680"/>
          </a:xfrm>
          <a:prstGeom prst="rect">
            <a:avLst>
              <a:gd name="adj" fmla="val 2727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AI辅助会议流程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1: 需求调研会议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技术方向/目标/资源确认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AI解析评分标准与申报要求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0574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IMA知识库检索相似案例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2: AI智能生成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输入需求→AI生成简表框架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多版本快速迭代（10分钟3版）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3: 专家评审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2004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技术可行性/创新性评估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AI辅助修改→终稿确认提交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41148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起草时间：2-3天 → 0.5天（↓83%）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一次通过率：80%（历史均值50%）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多版本迭代：10分钟内完成3版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393192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3566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WorkBuddy（对话生成框架）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IMA知识库（历史模板复用）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WebSearch（政策实时对齐）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心得：AI擅长快速提炼和结构化，核心创新点需人工把关；模板库越完善AI效果越好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指南编写 — 政策对齐与内容智能生成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编写效率提升5倍，政策对齐度显著提高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政策文档解析→自动提取关键要求与评分标准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技术方向梳理→AI生成指南框架草案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多轮审校对齐→确保与最新政策文件一致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历史指南库比对→避免重复或冲突内容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AI知识库支撑：实时检索最新政策动态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2011680"/>
          </a:xfrm>
          <a:prstGeom prst="rect">
            <a:avLst>
              <a:gd name="adj" fmla="val 2727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智能电网技术指南：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解析南网/国网最新政策→生成技术方向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956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计量设备AI应用指南：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梳理故障诊断技术路线→对齐行业标准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542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新型电力系统指南：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多源政策交叉分析→提炼核心考核指标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1148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编写效率：提升5倍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政策对齐度：从60%→95%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多版本对比：3版/小时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108960"/>
            <a:ext cx="393192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WorkBuddy（政策解析+框架生成）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IMA知识库（历史指南沉淀）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WebSearch（实时政策检索）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心得：政策合规性必须人工审核，涉密条款尤甚；AI生成的框架需经专家确认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可研报告 — 全量自动化生成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对话式，一次编写多次复用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docx-js脚本自动生成完整可研报告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22张matplotlib图表自动嵌入（68维特征/PCA/规则库）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6章结构+20篇文献+3个附录深度编排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数据驱动：从原始数据→分析图表→报告文字全链路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AI知识库支撑：文献综述自动引用已入库资料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2011680"/>
          </a:xfrm>
          <a:prstGeom prst="rect">
            <a:avLst>
              <a:gd name="adj" fmla="val 2727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终端/表计故障规则库可研：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140条规则+CHI模型→完整技术论证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956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智能电网AI应用可研：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多维度数据分析→技术路线论证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542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团队IDP赋能可研：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12人团队数据→资源配置方案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1148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报告规模：1.35MB docx（6章+20文献+3附录）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图表数量：22张自动嵌入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生成时间：从2周→2天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108960"/>
            <a:ext cx="393192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docx-js（报告自动生成脚本）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matplotlib（数据分析图表）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WorkBuddy（内容审核与优化）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心得：脚本化 &gt; 对话式，一次编写脚本可多次复用迭代；数据→图表→文字全链路自动化是最大突破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技术研究报告 — 深度生成与知识库沉淀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效率提升10倍，脚本化+图表+知识库形成闭环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140条规则库三层级设计（单元87+设备34+台区19）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CHI/Arrhenius模型推导与公式编排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技术报告深度生成：6章结构+数据分析+文献综述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知识库沉淀：研究成果自动归档IMA，形成可复用资产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AI知识库支撑：文献引用自动关联已入库研究成果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2011680"/>
          </a:xfrm>
          <a:prstGeom prst="rect">
            <a:avLst>
              <a:gd name="adj" fmla="val 2727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终端故障规则库技术报告：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87条单元级规则+CHI模型→完整技术论证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956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表计健康评估报告：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34条设备级规则+Arrhenius模型→状态评估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542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台区故障诊断报告：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19条台区级规则→区域级故障定位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1148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规则库设计：140条（三层级）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报告效率：提升10倍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知识沉淀：IMA知识库自动归档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108960"/>
            <a:ext cx="393192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WorkBuddy（模型推导+报告生成）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docx-js（报告脚本化生成）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IMA知识库（成果沉淀与复用）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心得：脚本化生成+图表嵌入+知识库沉淀形成完整闭环；技术深度内容AI辅助但核心推导需专家把关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Demo原型设计 — 代码生成与可视化组件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原型周期2周→3天，周报已全自动化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011680"/>
          </a:xfrm>
          <a:prstGeom prst="rect">
            <a:avLst>
              <a:gd name="adj" fmla="val 363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IDP可视化系统(idp_v3.html)开发：个人发展计划可视化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周报HTML自动分发：邮件兼容格式+内联样式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交互式可视化组件：Chart.js数据图表+动态交互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原型快速迭代：AI生成代码→人工调试→快速验证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AI知识库支撑：设计规范与组件库统一沉淀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2011680"/>
          </a:xfrm>
          <a:prstGeom prst="rect">
            <a:avLst>
              <a:gd name="adj" fmla="val 2727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IDP可视化系统：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12人团队架构→个人发展路径可视化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956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周报自动化系统：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数据汇总→HTML周报→邮件自动分发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542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数据看板原型：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项目进度/资源分配→交互式图表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114800" cy="1554480"/>
          </a:xfrm>
          <a:prstGeom prst="rect">
            <a:avLst>
              <a:gd name="adj" fmla="val 4706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原型周期：2周 → 3天（↓85%）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周报自动化：100%无人干预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IDP系统：12人团队全覆盖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108960"/>
            <a:ext cx="3931920" cy="1554480"/>
          </a:xfrm>
          <a:prstGeom prst="rect">
            <a:avLst>
              <a:gd name="adj" fmla="val 352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WorkBuddy（代码生成+调试）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HTML/CSS/JS（前端原型）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Chart.js（数据可视化）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心得：AI前端原型效果最好，复杂业务逻辑仍需调试；HTML周报格式是邮件分发的最佳实践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AI工具链架构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92608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核心AI助手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对话式内容生成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代码/脚本编写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88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数据分析与图表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72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PPT/Word自动生成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多文档交叉分析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097280"/>
            <a:ext cx="2651760" cy="292608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知识沉淀中心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文件上传通道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304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URL导入通道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688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笔记创建通道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072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结构化文献库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历史模板复用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097280"/>
            <a:ext cx="2651760" cy="292608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辅助工具链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专业化增强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docx-js（Word生成）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304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PptxGenJS（PPT生成）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688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matplotlib（图表）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072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Chart.js（可视化）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WebSearch（检索）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闭环回流：WorkBuddy 反向调用 IMA 知识库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正向：WorkBuddy → IMA（文献清洗→分类标签→自动导入知识库）    反向：IMA → WorkBuddy（检索知识库→AI分析整合→生成报告）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核心成果数据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效率提升与质量改善量化指标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554480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生成效率提升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1554480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48840" y="1600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起草时间缩短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005840"/>
            <a:ext cx="1554480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40480" y="1600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2120" y="1005840"/>
            <a:ext cx="1554480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32120" y="1600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生成效率提升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1005840"/>
            <a:ext cx="1554480" cy="1371600"/>
          </a:xfrm>
          <a:prstGeom prst="rect">
            <a:avLst>
              <a:gd name="adj" fmla="val 5333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16002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开发周期缩短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51760"/>
            <a:ext cx="8229600" cy="2377440"/>
          </a:xfrm>
          <a:prstGeom prst="rect">
            <a:avLst>
              <a:gd name="adj" fmla="val 3077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各环节效率对比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786384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371600"/>
                <a:gridCol w="164592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质量改善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↓83%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通过率80%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指南编写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↑5x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对齐度95%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可研报告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↑7x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图表22张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技术报告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↑10x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140规则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Demo原型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↑85%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交互可视化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实践心得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6条核心经验总结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1737360"/>
          </a:xfrm>
          <a:prstGeom prst="rect">
            <a:avLst>
              <a:gd name="adj" fmla="val 4211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51560"/>
            <a:ext cx="320040" cy="3200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一次编写脚本可多次复用迭代，效率远超逐轮对话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651760" cy="1737360"/>
          </a:xfrm>
          <a:prstGeom prst="rect">
            <a:avLst>
              <a:gd name="adj" fmla="val 4211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051560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0789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知识库是核心基础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AI知识生产基础库构建是所有工作的前提，双路径采集确保知识质量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914400"/>
            <a:ext cx="2651760" cy="1737360"/>
          </a:xfrm>
          <a:prstGeom prst="rect">
            <a:avLst>
              <a:gd name="adj" fmla="val 4211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051560"/>
            <a:ext cx="320040" cy="3200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0789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模板库是关键前提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历史材料沉淀越丰富，AI生成效果越好，质量越稳定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51760" cy="1737360"/>
          </a:xfrm>
          <a:prstGeom prst="rect">
            <a:avLst>
              <a:gd name="adj" fmla="val 4211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320040" cy="3200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906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数据→图表→文字全链路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从原始数据到分析报告的全自动化是最大突破点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926080"/>
            <a:ext cx="2651760" cy="1737360"/>
          </a:xfrm>
          <a:prstGeom prst="rect">
            <a:avLst>
              <a:gd name="adj" fmla="val 4211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3063240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0906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人工审核不可少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政策合规、技术深度、核心创新点必须专家把关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2926080"/>
            <a:ext cx="2651760" cy="1737360"/>
          </a:xfrm>
          <a:prstGeom prst="rect">
            <a:avLst>
              <a:gd name="adj" fmla="val 4211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3063240"/>
            <a:ext cx="320040" cy="3200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0906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前端原型效果最好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HTML/CSS/JS可视化组件，AI生成代码质量最高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162447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"真正的变化不是工具，而是工作流的重新定义"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三阶段深化路径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92608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深化阶段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可研报告脚本全面标准化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PPT生成脚本模板库建设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437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技术报告自动生成优化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826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知识库双路径全面接入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651760" cy="292608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拓展阶段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跨项目知识库互联互通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404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团队AI能力培训体系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28437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多区域项目协同模板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2826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智能评审辅助工具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097280"/>
            <a:ext cx="2651760" cy="292608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固化阶段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全流程自动化流水线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404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AI辅助决策支持系统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8437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知识资产持续沉淀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2826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团队AI成熟度评估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4389120"/>
            <a:ext cx="7315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25196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4572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425196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4572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425196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572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AI实践持续推进中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2396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47091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47091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2026-06-07T08:06:20Z</dcterms:created>
  <dcterms:modified xsi:type="dcterms:W3CDTF">2026-06-07T08:06:20Z</dcterms:modified>
</cp:coreProperties>
</file>