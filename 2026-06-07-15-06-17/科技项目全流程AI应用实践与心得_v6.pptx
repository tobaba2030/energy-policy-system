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科技项目全流程AI应用实践与心得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B3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电网科创业务中心 · 从申报到交付的智能化升级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28800" y="2011680"/>
            <a:ext cx="8531352" cy="3200400"/>
          </a:xfrm>
          <a:prstGeom prst="rect">
            <a:avLst/>
          </a:prstGeom>
          <a:solidFill>
            <a:srgbClr val="F7FA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2286000"/>
            <a:ext cx="76169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汇报框架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560320" y="2834640"/>
            <a:ext cx="70683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AI知识生产基础库 — 双路径学术知识采集架构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60320" y="3182112"/>
            <a:ext cx="70683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学术文献智能流转闭环 — 从人工到智能的全流程升级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0" y="3529584"/>
            <a:ext cx="70683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科技项目全流程AI应用概览 — 5大环节智能化路径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0" y="3877056"/>
            <a:ext cx="70683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申报简表 — AI辅助框架搭建与会议流程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4224528"/>
            <a:ext cx="70683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指南编写 — 政策对齐与内容智能生成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0320" y="4572000"/>
            <a:ext cx="70683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可研报告 — 全量自动化生成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4919472"/>
            <a:ext cx="70683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技术研究报告 — 深度生成与知识库沉淀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5266944"/>
            <a:ext cx="70683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 Demo原型设计 — 代码生成与可视化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5614416"/>
            <a:ext cx="70683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 成果 · 心得 · 展望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5669280"/>
            <a:ext cx="11274552" cy="0"/>
          </a:xfrm>
          <a:prstGeom prst="line">
            <a:avLst/>
          </a:prstGeom>
          <a:noFill/>
          <a:ln w="25400">
            <a:solidFill>
              <a:srgbClr val="3182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585216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182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AI知识生产基础库（中国科技云 + Bing学术）→ IMA知识库 → 全流程知识注入与复用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1164031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AI知识生产基础库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475488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3B3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所有工作的核心基础 · 双路径学术知识采集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1354328" cy="41148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知识库构建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54328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1354328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学术文献流转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08656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2708656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全流程概览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62984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4062984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申报简表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17312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417312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指南编写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71640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6771640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可研报告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25968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8125968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技术报告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480296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9480296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Demo原型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834624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10834624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成果展望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1234440"/>
            <a:ext cx="12188952" cy="0"/>
          </a:xfrm>
          <a:prstGeom prst="line">
            <a:avLst/>
          </a:prstGeom>
          <a:noFill/>
          <a:ln w="25400">
            <a:solidFill>
              <a:srgbClr val="3182C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1371600"/>
            <a:ext cx="11640312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1417320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1.1.1 双路径学术知识采集架构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1828800"/>
            <a:ext cx="3819144" cy="3474720"/>
          </a:xfrm>
          <a:prstGeom prst="rect">
            <a:avLst/>
          </a:prstGeom>
          <a:solidFill>
            <a:srgbClr val="F7FAFC"/>
          </a:solidFill>
          <a:ln w="25400">
            <a:solidFill>
              <a:srgbClr val="1A365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1828800"/>
            <a:ext cx="3819144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1874520"/>
            <a:ext cx="363626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路径一：中国科技云学术智能体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2286000"/>
            <a:ext cx="3453384" cy="4572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2313432"/>
            <a:ext cx="33619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学术智能体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爬取入口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183892" y="2743200"/>
            <a:ext cx="137160" cy="0"/>
          </a:xfrm>
          <a:prstGeom prst="line">
            <a:avLst/>
          </a:prstGeom>
          <a:noFill/>
          <a:ln w="25400">
            <a:solidFill>
              <a:srgbClr val="1A365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75332" y="2706624"/>
            <a:ext cx="91440" cy="73152"/>
          </a:xfrm>
          <a:prstGeom prst="rect">
            <a:avLst/>
          </a:prstGeom>
          <a:solidFill>
            <a:srgbClr val="1A365D"/>
          </a:solidFill>
          <a:ln w="6350">
            <a:solidFill>
              <a:srgbClr val="1A365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2880360"/>
            <a:ext cx="3453384" cy="4572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2907792"/>
            <a:ext cx="33619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论文摘要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关键词提取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183892" y="3337560"/>
            <a:ext cx="137160" cy="0"/>
          </a:xfrm>
          <a:prstGeom prst="line">
            <a:avLst/>
          </a:prstGeom>
          <a:noFill/>
          <a:ln w="25400">
            <a:solidFill>
              <a:srgbClr val="3182C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75332" y="3300984"/>
            <a:ext cx="91440" cy="73152"/>
          </a:xfrm>
          <a:prstGeom prst="rect">
            <a:avLst/>
          </a:prstGeom>
          <a:solidFill>
            <a:srgbClr val="3182CE"/>
          </a:solidFill>
          <a:ln w="6350">
            <a:solidFill>
              <a:srgbClr val="3182C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3474720"/>
            <a:ext cx="3453384" cy="4572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3502152"/>
            <a:ext cx="33619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URL/DOI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结构化处理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183892" y="3931920"/>
            <a:ext cx="137160" cy="0"/>
          </a:xfrm>
          <a:prstGeom prst="line">
            <a:avLst/>
          </a:prstGeom>
          <a:noFill/>
          <a:ln w="25400">
            <a:solidFill>
              <a:srgbClr val="3182C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275332" y="3895344"/>
            <a:ext cx="91440" cy="73152"/>
          </a:xfrm>
          <a:prstGeom prst="rect">
            <a:avLst/>
          </a:prstGeom>
          <a:solidFill>
            <a:srgbClr val="3182CE"/>
          </a:solidFill>
          <a:ln w="6350">
            <a:solidFill>
              <a:srgbClr val="3182C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4069080"/>
            <a:ext cx="3453384" cy="4572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1979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4096512"/>
            <a:ext cx="33619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元数据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清洗归一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183892" y="4526280"/>
            <a:ext cx="137160" cy="0"/>
          </a:xfrm>
          <a:prstGeom prst="line">
            <a:avLst/>
          </a:prstGeom>
          <a:noFill/>
          <a:ln w="25400">
            <a:solidFill>
              <a:srgbClr val="31979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275332" y="4489704"/>
            <a:ext cx="91440" cy="73152"/>
          </a:xfrm>
          <a:prstGeom prst="rect">
            <a:avLst/>
          </a:prstGeom>
          <a:solidFill>
            <a:srgbClr val="319795"/>
          </a:solidFill>
          <a:ln w="6350">
            <a:solidFill>
              <a:srgbClr val="31979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" y="4663440"/>
            <a:ext cx="3453384" cy="4572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4690872"/>
            <a:ext cx="33619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IMA知识库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自动注入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74320" y="5394960"/>
            <a:ext cx="381914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核心能力：论文摘要 | 关键词 | DOI | 元数据结构化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7200" y="5669280"/>
            <a:ext cx="3453384" cy="27432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5696712"/>
            <a:ext cx="345338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状态：已验证通过，稳定运行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184904" y="1828800"/>
            <a:ext cx="3819144" cy="3474720"/>
          </a:xfrm>
          <a:prstGeom prst="rect">
            <a:avLst/>
          </a:prstGeom>
          <a:solidFill>
            <a:srgbClr val="F7FAFC"/>
          </a:solidFill>
          <a:ln w="25400">
            <a:solidFill>
              <a:srgbClr val="3182C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184904" y="1828800"/>
            <a:ext cx="3819144" cy="36576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52" name="Text 50"/>
          <p:cNvSpPr/>
          <p:nvPr/>
        </p:nvSpPr>
        <p:spPr>
          <a:xfrm>
            <a:off x="4276344" y="1874520"/>
            <a:ext cx="363626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路径二：Bing学术搜索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367784" y="2286000"/>
            <a:ext cx="3453384" cy="4572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413504" y="2313432"/>
            <a:ext cx="33619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Bing学术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检索入口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094476" y="2743200"/>
            <a:ext cx="137160" cy="0"/>
          </a:xfrm>
          <a:prstGeom prst="line">
            <a:avLst/>
          </a:prstGeom>
          <a:noFill/>
          <a:ln w="25400">
            <a:solidFill>
              <a:srgbClr val="3182C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85916" y="2706624"/>
            <a:ext cx="91440" cy="73152"/>
          </a:xfrm>
          <a:prstGeom prst="rect">
            <a:avLst/>
          </a:prstGeom>
          <a:solidFill>
            <a:srgbClr val="3182CE"/>
          </a:solidFill>
          <a:ln w="6350">
            <a:solidFill>
              <a:srgbClr val="3182C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367784" y="2880360"/>
            <a:ext cx="3453384" cy="4572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413504" y="2907792"/>
            <a:ext cx="33619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英文文献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摘要抓取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094476" y="3337560"/>
            <a:ext cx="137160" cy="0"/>
          </a:xfrm>
          <a:prstGeom prst="line">
            <a:avLst/>
          </a:prstGeom>
          <a:noFill/>
          <a:ln w="25400">
            <a:solidFill>
              <a:srgbClr val="3182C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185916" y="3300984"/>
            <a:ext cx="91440" cy="73152"/>
          </a:xfrm>
          <a:prstGeom prst="rect">
            <a:avLst/>
          </a:prstGeom>
          <a:solidFill>
            <a:srgbClr val="3182CE"/>
          </a:solidFill>
          <a:ln w="6350">
            <a:solidFill>
              <a:srgbClr val="3182C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367784" y="3474720"/>
            <a:ext cx="3453384" cy="4572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05AD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413504" y="3502152"/>
            <a:ext cx="33619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跨语言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翻译融合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094476" y="3931920"/>
            <a:ext cx="137160" cy="0"/>
          </a:xfrm>
          <a:prstGeom prst="line">
            <a:avLst/>
          </a:prstGeom>
          <a:noFill/>
          <a:ln w="25400">
            <a:solidFill>
              <a:srgbClr val="805AD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185916" y="3895344"/>
            <a:ext cx="91440" cy="73152"/>
          </a:xfrm>
          <a:prstGeom prst="rect">
            <a:avLst/>
          </a:prstGeom>
          <a:solidFill>
            <a:srgbClr val="805AD5"/>
          </a:solidFill>
          <a:ln w="6350">
            <a:solidFill>
              <a:srgbClr val="805AD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367784" y="4069080"/>
            <a:ext cx="3453384" cy="4572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1979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413504" y="4096512"/>
            <a:ext cx="33619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元数据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结构对齐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094476" y="4526280"/>
            <a:ext cx="137160" cy="0"/>
          </a:xfrm>
          <a:prstGeom prst="line">
            <a:avLst/>
          </a:prstGeom>
          <a:noFill/>
          <a:ln w="25400">
            <a:solidFill>
              <a:srgbClr val="31979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185916" y="4489704"/>
            <a:ext cx="91440" cy="73152"/>
          </a:xfrm>
          <a:prstGeom prst="rect">
            <a:avLst/>
          </a:prstGeom>
          <a:solidFill>
            <a:srgbClr val="319795"/>
          </a:solidFill>
          <a:ln w="6350">
            <a:solidFill>
              <a:srgbClr val="31979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367784" y="4663440"/>
            <a:ext cx="3453384" cy="4572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413504" y="4690872"/>
            <a:ext cx="33619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IMA知识库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补充注入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4184904" y="5394960"/>
            <a:ext cx="381914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核心能力：国际文献 | 英文元数据 | 跨语言融合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367784" y="5669280"/>
            <a:ext cx="3453384" cy="274320"/>
          </a:xfrm>
          <a:prstGeom prst="rect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367784" y="5696712"/>
            <a:ext cx="345338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状态：可行性确认，待接入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8095488" y="1828800"/>
            <a:ext cx="3819144" cy="3474720"/>
          </a:xfrm>
          <a:prstGeom prst="rect">
            <a:avLst/>
          </a:prstGeom>
          <a:solidFill>
            <a:srgbClr val="F7FAFC"/>
          </a:solidFill>
          <a:ln w="25400">
            <a:solidFill>
              <a:srgbClr val="31979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095488" y="1828800"/>
            <a:ext cx="3819144" cy="365760"/>
          </a:xfrm>
          <a:prstGeom prst="rect">
            <a:avLst/>
          </a:prstGeom>
          <a:solidFill>
            <a:srgbClr val="319795"/>
          </a:solidFill>
          <a:ln/>
        </p:spPr>
      </p:sp>
      <p:sp>
        <p:nvSpPr>
          <p:cNvPr id="76" name="Text 74"/>
          <p:cNvSpPr/>
          <p:nvPr/>
        </p:nvSpPr>
        <p:spPr>
          <a:xfrm>
            <a:off x="8186928" y="1874520"/>
            <a:ext cx="363626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双路径对比数据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78368" y="2286000"/>
          <a:ext cx="3453384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979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中国科技云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979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Bing学术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979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覆盖范围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中文文献为主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英文文献为主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数据类型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摘要/关键词/URL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摘要/引用/作者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更新频率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实时爬取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定期同步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准确率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&gt;95%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&gt;90%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接入状态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已运行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待接入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8" name="Shape 75"/>
          <p:cNvSpPr/>
          <p:nvPr/>
        </p:nvSpPr>
        <p:spPr>
          <a:xfrm>
            <a:off x="274320" y="5486400"/>
            <a:ext cx="11640312" cy="457200"/>
          </a:xfrm>
          <a:prstGeom prst="rect">
            <a:avLst/>
          </a:prstGeom>
          <a:solidFill>
            <a:srgbClr val="EBF8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457200" y="5559552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182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双路径汇聚 → 统一清洗 → 结构化存储 → IMA知识库 → 服务全流程AI应用</a:t>
            </a:r>
            <a:endParaRPr lang="en-US" sz="1200" dirty="0"/>
          </a:p>
        </p:txBody>
      </p:sp>
      <p:sp>
        <p:nvSpPr>
          <p:cNvPr id="80" name="Shape 77"/>
          <p:cNvSpPr/>
          <p:nvPr/>
        </p:nvSpPr>
        <p:spPr>
          <a:xfrm>
            <a:off x="274320" y="6355080"/>
            <a:ext cx="11640312" cy="365760"/>
          </a:xfrm>
          <a:prstGeom prst="rect">
            <a:avLst/>
          </a:prstGeom>
          <a:solidFill>
            <a:srgbClr val="FED7D7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457200" y="6419088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中国科技云学术智能体平台爬取方案验证通过，可稳定获取论文摘要、关键词、URL等结构化元数据；同步完成Bing学术爬取可行性确认，构建多源学术知识采集双路径。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1164031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学术文献智能流转闭环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475488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3B3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从人工爬取到智能报告，全流程自动化升级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知识库构建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54328" y="822960"/>
            <a:ext cx="1354328" cy="41148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8" name="Text 6"/>
          <p:cNvSpPr/>
          <p:nvPr/>
        </p:nvSpPr>
        <p:spPr>
          <a:xfrm>
            <a:off x="1354328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学术文献流转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08656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2708656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全流程概览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62984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4062984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申报简表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17312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417312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指南编写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71640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6771640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可研报告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25968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8125968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技术报告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480296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9480296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Demo原型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834624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10834624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成果展望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1234440"/>
            <a:ext cx="12188952" cy="0"/>
          </a:xfrm>
          <a:prstGeom prst="line">
            <a:avLst/>
          </a:prstGeom>
          <a:noFill/>
          <a:ln w="25400">
            <a:solidFill>
              <a:srgbClr val="3182C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1371600"/>
            <a:ext cx="11640312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1417320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1.2.1 三模式对比与闭环流程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1828800"/>
            <a:ext cx="3819144" cy="2560320"/>
          </a:xfrm>
          <a:prstGeom prst="rect">
            <a:avLst/>
          </a:prstGeom>
          <a:solidFill>
            <a:srgbClr val="F7FAFC"/>
          </a:solidFill>
          <a:ln w="25400">
            <a:solidFill>
              <a:srgbClr val="C5303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1828800"/>
            <a:ext cx="3819144" cy="36576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1874520"/>
            <a:ext cx="363626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传统手工模式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2286000"/>
            <a:ext cx="3453384" cy="41148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2313432"/>
            <a:ext cx="336194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人工检索下载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183892" y="2697480"/>
            <a:ext cx="91440" cy="0"/>
          </a:xfrm>
          <a:prstGeom prst="line">
            <a:avLst/>
          </a:prstGeom>
          <a:noFill/>
          <a:ln w="25400">
            <a:solidFill>
              <a:srgbClr val="C5303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29612" y="2660904"/>
            <a:ext cx="91440" cy="73152"/>
          </a:xfrm>
          <a:prstGeom prst="rect">
            <a:avLst/>
          </a:prstGeom>
          <a:solidFill>
            <a:srgbClr val="C53030"/>
          </a:solidFill>
          <a:ln w="6350">
            <a:solidFill>
              <a:srgbClr val="C5303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2788920"/>
            <a:ext cx="3453384" cy="41148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2816352"/>
            <a:ext cx="336194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手动整理分类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183892" y="3200400"/>
            <a:ext cx="91440" cy="0"/>
          </a:xfrm>
          <a:prstGeom prst="line">
            <a:avLst/>
          </a:prstGeom>
          <a:noFill/>
          <a:ln w="25400">
            <a:solidFill>
              <a:srgbClr val="C5303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29612" y="3163824"/>
            <a:ext cx="91440" cy="73152"/>
          </a:xfrm>
          <a:prstGeom prst="rect">
            <a:avLst/>
          </a:prstGeom>
          <a:solidFill>
            <a:srgbClr val="C53030"/>
          </a:solidFill>
          <a:ln w="6350">
            <a:solidFill>
              <a:srgbClr val="C5303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3291840"/>
            <a:ext cx="3453384" cy="41148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3319272"/>
            <a:ext cx="336194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逐篇阅读提炼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183892" y="3703320"/>
            <a:ext cx="91440" cy="0"/>
          </a:xfrm>
          <a:prstGeom prst="line">
            <a:avLst/>
          </a:prstGeom>
          <a:noFill/>
          <a:ln w="25400">
            <a:solidFill>
              <a:srgbClr val="C5303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229612" y="3666744"/>
            <a:ext cx="91440" cy="73152"/>
          </a:xfrm>
          <a:prstGeom prst="rect">
            <a:avLst/>
          </a:prstGeom>
          <a:solidFill>
            <a:srgbClr val="C53030"/>
          </a:solidFill>
          <a:ln w="6350">
            <a:solidFill>
              <a:srgbClr val="C5303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3794760"/>
            <a:ext cx="3453384" cy="41148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3822192"/>
            <a:ext cx="336194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人工编写报告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" y="4480560"/>
            <a:ext cx="3453384" cy="27432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507992"/>
            <a:ext cx="345338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耗时：4-8小时/10篇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184904" y="1828800"/>
            <a:ext cx="3819144" cy="2560320"/>
          </a:xfrm>
          <a:prstGeom prst="rect">
            <a:avLst/>
          </a:prstGeom>
          <a:solidFill>
            <a:srgbClr val="F7FAFC"/>
          </a:solidFill>
          <a:ln w="25400">
            <a:solidFill>
              <a:srgbClr val="D69E2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184904" y="1828800"/>
            <a:ext cx="3819144" cy="36576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47" name="Text 45"/>
          <p:cNvSpPr/>
          <p:nvPr/>
        </p:nvSpPr>
        <p:spPr>
          <a:xfrm>
            <a:off x="4276344" y="1874520"/>
            <a:ext cx="363626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 自动化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367784" y="2286000"/>
            <a:ext cx="3453384" cy="41148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13504" y="2313432"/>
            <a:ext cx="336194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粘贴/上传文献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094476" y="2697480"/>
            <a:ext cx="91440" cy="0"/>
          </a:xfrm>
          <a:prstGeom prst="line">
            <a:avLst/>
          </a:prstGeom>
          <a:noFill/>
          <a:ln w="25400">
            <a:solidFill>
              <a:srgbClr val="D69E2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40196" y="2660904"/>
            <a:ext cx="91440" cy="73152"/>
          </a:xfrm>
          <a:prstGeom prst="rect">
            <a:avLst/>
          </a:prstGeom>
          <a:solidFill>
            <a:srgbClr val="D69E2E"/>
          </a:solidFill>
          <a:ln w="6350">
            <a:solidFill>
              <a:srgbClr val="D69E2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367784" y="2788920"/>
            <a:ext cx="3453384" cy="41148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413504" y="2816352"/>
            <a:ext cx="336194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AI自动清洗提取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094476" y="3200400"/>
            <a:ext cx="91440" cy="0"/>
          </a:xfrm>
          <a:prstGeom prst="line">
            <a:avLst/>
          </a:prstGeom>
          <a:noFill/>
          <a:ln w="25400">
            <a:solidFill>
              <a:srgbClr val="D69E2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140196" y="3163824"/>
            <a:ext cx="91440" cy="73152"/>
          </a:xfrm>
          <a:prstGeom prst="rect">
            <a:avLst/>
          </a:prstGeom>
          <a:solidFill>
            <a:srgbClr val="D69E2E"/>
          </a:solidFill>
          <a:ln w="6350">
            <a:solidFill>
              <a:srgbClr val="D69E2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367784" y="3291840"/>
            <a:ext cx="3453384" cy="41148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413504" y="3319272"/>
            <a:ext cx="336194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智能分类标签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094476" y="3703320"/>
            <a:ext cx="91440" cy="0"/>
          </a:xfrm>
          <a:prstGeom prst="line">
            <a:avLst/>
          </a:prstGeom>
          <a:noFill/>
          <a:ln w="25400">
            <a:solidFill>
              <a:srgbClr val="D69E2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140196" y="3666744"/>
            <a:ext cx="91440" cy="73152"/>
          </a:xfrm>
          <a:prstGeom prst="rect">
            <a:avLst/>
          </a:prstGeom>
          <a:solidFill>
            <a:srgbClr val="D69E2E"/>
          </a:solidFill>
          <a:ln w="6350">
            <a:solidFill>
              <a:srgbClr val="D69E2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367784" y="3794760"/>
            <a:ext cx="3453384" cy="41148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413504" y="3822192"/>
            <a:ext cx="336194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自动传入IMA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367784" y="4480560"/>
            <a:ext cx="3453384" cy="27432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367784" y="4507992"/>
            <a:ext cx="345338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耗时：5分钟/10篇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8095488" y="1828800"/>
            <a:ext cx="3819144" cy="2560320"/>
          </a:xfrm>
          <a:prstGeom prst="rect">
            <a:avLst/>
          </a:prstGeom>
          <a:solidFill>
            <a:srgbClr val="F7FAFC"/>
          </a:solidFill>
          <a:ln w="25400">
            <a:solidFill>
              <a:srgbClr val="3182C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095488" y="1828800"/>
            <a:ext cx="3819144" cy="36576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66" name="Text 64"/>
          <p:cNvSpPr/>
          <p:nvPr/>
        </p:nvSpPr>
        <p:spPr>
          <a:xfrm>
            <a:off x="8186928" y="1874520"/>
            <a:ext cx="363626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 知识库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8278368" y="2286000"/>
            <a:ext cx="3453384" cy="41148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324088" y="2313432"/>
            <a:ext cx="336194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文件上传通道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10005060" y="2697480"/>
            <a:ext cx="91440" cy="0"/>
          </a:xfrm>
          <a:prstGeom prst="line">
            <a:avLst/>
          </a:prstGeom>
          <a:noFill/>
          <a:ln w="25400">
            <a:solidFill>
              <a:srgbClr val="3182C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050780" y="2660904"/>
            <a:ext cx="91440" cy="73152"/>
          </a:xfrm>
          <a:prstGeom prst="rect">
            <a:avLst/>
          </a:prstGeom>
          <a:solidFill>
            <a:srgbClr val="3182CE"/>
          </a:solidFill>
          <a:ln w="6350">
            <a:solidFill>
              <a:srgbClr val="3182C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278368" y="2788920"/>
            <a:ext cx="3453384" cy="41148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324088" y="2816352"/>
            <a:ext cx="336194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URL导入通道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10005060" y="3200400"/>
            <a:ext cx="91440" cy="0"/>
          </a:xfrm>
          <a:prstGeom prst="line">
            <a:avLst/>
          </a:prstGeom>
          <a:noFill/>
          <a:ln w="25400">
            <a:solidFill>
              <a:srgbClr val="3182C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050780" y="3163824"/>
            <a:ext cx="91440" cy="73152"/>
          </a:xfrm>
          <a:prstGeom prst="rect">
            <a:avLst/>
          </a:prstGeom>
          <a:solidFill>
            <a:srgbClr val="3182CE"/>
          </a:solidFill>
          <a:ln w="6350">
            <a:solidFill>
              <a:srgbClr val="3182C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278368" y="3291840"/>
            <a:ext cx="3453384" cy="41148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324088" y="3319272"/>
            <a:ext cx="336194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笔记创建通道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10005060" y="3703320"/>
            <a:ext cx="91440" cy="0"/>
          </a:xfrm>
          <a:prstGeom prst="line">
            <a:avLst/>
          </a:prstGeom>
          <a:noFill/>
          <a:ln w="25400">
            <a:solidFill>
              <a:srgbClr val="3182CE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0050780" y="3666744"/>
            <a:ext cx="91440" cy="73152"/>
          </a:xfrm>
          <a:prstGeom prst="rect">
            <a:avLst/>
          </a:prstGeom>
          <a:solidFill>
            <a:srgbClr val="3182CE"/>
          </a:solidFill>
          <a:ln w="6350">
            <a:solidFill>
              <a:srgbClr val="3182C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278368" y="3794760"/>
            <a:ext cx="3453384" cy="41148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324088" y="3822192"/>
            <a:ext cx="336194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结构化文献库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8278368" y="4480560"/>
            <a:ext cx="3453384" cy="274320"/>
          </a:xfrm>
          <a:prstGeom prst="rect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278368" y="4507992"/>
            <a:ext cx="345338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状态：全自动入库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093464" y="3108960"/>
            <a:ext cx="73152" cy="0"/>
          </a:xfrm>
          <a:prstGeom prst="line">
            <a:avLst/>
          </a:prstGeom>
          <a:noFill/>
          <a:ln w="25400">
            <a:solidFill>
              <a:srgbClr val="D69E2E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120896" y="3072384"/>
            <a:ext cx="91440" cy="73152"/>
          </a:xfrm>
          <a:prstGeom prst="rect">
            <a:avLst/>
          </a:prstGeom>
          <a:solidFill>
            <a:srgbClr val="D69E2E"/>
          </a:solidFill>
          <a:ln w="6350">
            <a:solidFill>
              <a:srgbClr val="D69E2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004048" y="3108960"/>
            <a:ext cx="73152" cy="0"/>
          </a:xfrm>
          <a:prstGeom prst="line">
            <a:avLst/>
          </a:prstGeom>
          <a:noFill/>
          <a:ln w="25400">
            <a:solidFill>
              <a:srgbClr val="D69E2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031480" y="3072384"/>
            <a:ext cx="91440" cy="73152"/>
          </a:xfrm>
          <a:prstGeom prst="rect">
            <a:avLst/>
          </a:prstGeom>
          <a:solidFill>
            <a:srgbClr val="D69E2E"/>
          </a:solidFill>
          <a:ln w="6350">
            <a:solidFill>
              <a:srgbClr val="D69E2E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74320" y="4572000"/>
            <a:ext cx="11640312" cy="1097280"/>
          </a:xfrm>
          <a:prstGeom prst="rect">
            <a:avLst/>
          </a:prstGeom>
          <a:solidFill>
            <a:srgbClr val="EBF8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57200" y="46177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182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闭环回流：WorkBuddy ↔ IMA 知识库双向联动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914400" y="4983480"/>
            <a:ext cx="1828800" cy="457200"/>
          </a:xfrm>
          <a:prstGeom prst="rect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914400" y="5029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发起分析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2743200" y="5212080"/>
            <a:ext cx="868680" cy="0"/>
          </a:xfrm>
          <a:prstGeom prst="line">
            <a:avLst/>
          </a:prstGeom>
          <a:noFill/>
          <a:ln w="25400">
            <a:solidFill>
              <a:srgbClr val="3182CE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566160" y="5175504"/>
            <a:ext cx="91440" cy="73152"/>
          </a:xfrm>
          <a:prstGeom prst="rect">
            <a:avLst/>
          </a:prstGeom>
          <a:solidFill>
            <a:srgbClr val="3182CE"/>
          </a:solidFill>
          <a:ln w="6350">
            <a:solidFill>
              <a:srgbClr val="3182CE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657600" y="4983480"/>
            <a:ext cx="1828800" cy="457200"/>
          </a:xfrm>
          <a:prstGeom prst="rect">
            <a:avLst/>
          </a:prstGeom>
          <a:solidFill>
            <a:srgbClr val="319795"/>
          </a:solidFill>
          <a:ln w="12700">
            <a:solidFill>
              <a:srgbClr val="319795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657600" y="5029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检索IMA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5486400" y="5212080"/>
            <a:ext cx="868680" cy="0"/>
          </a:xfrm>
          <a:prstGeom prst="line">
            <a:avLst/>
          </a:prstGeom>
          <a:noFill/>
          <a:ln w="25400">
            <a:solidFill>
              <a:srgbClr val="3182CE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309360" y="5175504"/>
            <a:ext cx="91440" cy="73152"/>
          </a:xfrm>
          <a:prstGeom prst="rect">
            <a:avLst/>
          </a:prstGeom>
          <a:solidFill>
            <a:srgbClr val="3182CE"/>
          </a:solidFill>
          <a:ln w="6350">
            <a:solidFill>
              <a:srgbClr val="3182CE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400800" y="4983480"/>
            <a:ext cx="1828800" cy="45720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400800" y="5029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AI分析整合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8229600" y="5212080"/>
            <a:ext cx="868680" cy="0"/>
          </a:xfrm>
          <a:prstGeom prst="line">
            <a:avLst/>
          </a:prstGeom>
          <a:noFill/>
          <a:ln w="25400">
            <a:solidFill>
              <a:srgbClr val="3182CE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052560" y="5175504"/>
            <a:ext cx="91440" cy="73152"/>
          </a:xfrm>
          <a:prstGeom prst="rect">
            <a:avLst/>
          </a:prstGeom>
          <a:solidFill>
            <a:srgbClr val="3182CE"/>
          </a:solidFill>
          <a:ln w="6350">
            <a:solidFill>
              <a:srgbClr val="3182CE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144000" y="4983480"/>
            <a:ext cx="1828800" cy="45720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144000" y="5029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输出报告</a:t>
            </a:r>
            <a:endParaRPr lang="en-US" sz="1100" dirty="0"/>
          </a:p>
        </p:txBody>
      </p:sp>
      <p:sp>
        <p:nvSpPr>
          <p:cNvPr id="103" name="Text 101"/>
          <p:cNvSpPr/>
          <p:nvPr/>
        </p:nvSpPr>
        <p:spPr>
          <a:xfrm>
            <a:off x="7772400" y="55321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19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成果归档IMA → 下次复用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274320" y="6355080"/>
            <a:ext cx="11640312" cy="365760"/>
          </a:xfrm>
          <a:prstGeom prst="rect">
            <a:avLst/>
          </a:prstGeom>
          <a:solidFill>
            <a:srgbClr val="FED7D7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57200" y="6419088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文献处理效率提升10倍（4-8小时→5分钟），知识零遗漏100%自动入库，闭环回流形成知识资产持续沉淀。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1164031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科技项目全流程 AI应用概览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475488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3B3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5大环节 × 智能化升级路径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知识库构建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54328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1354328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学术文献流转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08656" y="822960"/>
            <a:ext cx="1354328" cy="41148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10" name="Text 8"/>
          <p:cNvSpPr/>
          <p:nvPr/>
        </p:nvSpPr>
        <p:spPr>
          <a:xfrm>
            <a:off x="2708656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全流程概览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62984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4062984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申报简表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17312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417312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指南编写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71640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6771640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可研报告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25968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8125968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技术报告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480296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9480296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Demo原型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834624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10834624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成果展望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1234440"/>
            <a:ext cx="12188952" cy="0"/>
          </a:xfrm>
          <a:prstGeom prst="line">
            <a:avLst/>
          </a:prstGeom>
          <a:noFill/>
          <a:ln w="25400">
            <a:solidFill>
              <a:srgbClr val="3182C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1371600"/>
            <a:ext cx="11640312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1417320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 五大环节AI应用全景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14400" y="2560320"/>
            <a:ext cx="10360152" cy="0"/>
          </a:xfrm>
          <a:prstGeom prst="line">
            <a:avLst/>
          </a:prstGeom>
          <a:noFill/>
          <a:ln w="25400">
            <a:solidFill>
              <a:srgbClr val="3182C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0120" y="1645920"/>
            <a:ext cx="1280160" cy="1280160"/>
          </a:xfrm>
          <a:prstGeom prst="rect">
            <a:avLst>
              <a:gd name="adj" fmla="val 50000"/>
            </a:avLst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182880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申报简表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3063240"/>
            <a:ext cx="1920240" cy="640080"/>
          </a:xfrm>
          <a:prstGeom prst="rect">
            <a:avLst/>
          </a:prstGeom>
          <a:solidFill>
            <a:srgbClr val="F7FAFC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1089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AI框架搭建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会议流程优化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0080" y="3794760"/>
            <a:ext cx="1920240" cy="320040"/>
          </a:xfrm>
          <a:prstGeom prst="rect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38221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↓83%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41605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2-3天→0.5天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240280" y="2286000"/>
            <a:ext cx="457200" cy="0"/>
          </a:xfrm>
          <a:prstGeom prst="line">
            <a:avLst/>
          </a:prstGeom>
          <a:noFill/>
          <a:ln w="25400">
            <a:solidFill>
              <a:srgbClr val="3182C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651760" y="2249424"/>
            <a:ext cx="91440" cy="73152"/>
          </a:xfrm>
          <a:prstGeom prst="rect">
            <a:avLst/>
          </a:prstGeom>
          <a:solidFill>
            <a:srgbClr val="3182CE"/>
          </a:solidFill>
          <a:ln w="6350">
            <a:solidFill>
              <a:srgbClr val="3182C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46120" y="1645920"/>
            <a:ext cx="1280160" cy="1280160"/>
          </a:xfrm>
          <a:prstGeom prst="rect">
            <a:avLst>
              <a:gd name="adj" fmla="val 50000"/>
            </a:avLst>
          </a:prstGeom>
          <a:solidFill>
            <a:srgbClr val="319795"/>
          </a:solidFill>
          <a:ln w="12700">
            <a:solidFill>
              <a:srgbClr val="31979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46120" y="182880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指南编写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926080" y="3063240"/>
            <a:ext cx="1920240" cy="640080"/>
          </a:xfrm>
          <a:prstGeom prst="rect">
            <a:avLst/>
          </a:prstGeom>
          <a:solidFill>
            <a:srgbClr val="F7FAFC"/>
          </a:solidFill>
          <a:ln w="12700">
            <a:solidFill>
              <a:srgbClr val="31979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26080" y="31089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政策智能对齐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内容自动生成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926080" y="3794760"/>
            <a:ext cx="1920240" cy="320040"/>
          </a:xfrm>
          <a:prstGeom prst="rect">
            <a:avLst/>
          </a:prstGeom>
          <a:solidFill>
            <a:srgbClr val="319795"/>
          </a:solidFill>
          <a:ln w="12700">
            <a:solidFill>
              <a:srgbClr val="31979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26080" y="38221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↑5x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926080" y="41605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1周→1-2天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26280" y="2286000"/>
            <a:ext cx="457200" cy="0"/>
          </a:xfrm>
          <a:prstGeom prst="line">
            <a:avLst/>
          </a:prstGeom>
          <a:noFill/>
          <a:ln w="25400">
            <a:solidFill>
              <a:srgbClr val="3182C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937760" y="2249424"/>
            <a:ext cx="91440" cy="73152"/>
          </a:xfrm>
          <a:prstGeom prst="rect">
            <a:avLst/>
          </a:prstGeom>
          <a:solidFill>
            <a:srgbClr val="3182CE"/>
          </a:solidFill>
          <a:ln w="6350">
            <a:solidFill>
              <a:srgbClr val="3182C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532120" y="1645920"/>
            <a:ext cx="1280160" cy="1280160"/>
          </a:xfrm>
          <a:prstGeom prst="rect">
            <a:avLst>
              <a:gd name="adj" fmla="val 50000"/>
            </a:avLst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32120" y="182880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可研报告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212080" y="3063240"/>
            <a:ext cx="1920240" cy="640080"/>
          </a:xfrm>
          <a:prstGeom prst="rect">
            <a:avLst/>
          </a:prstGeom>
          <a:solidFill>
            <a:srgbClr val="F7FAFC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12080" y="31089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全量自动生成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图表嵌入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212080" y="3794760"/>
            <a:ext cx="1920240" cy="32004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2080" y="38221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↑7x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212080" y="41605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2周→2天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812280" y="2286000"/>
            <a:ext cx="457200" cy="0"/>
          </a:xfrm>
          <a:prstGeom prst="line">
            <a:avLst/>
          </a:prstGeom>
          <a:noFill/>
          <a:ln w="25400">
            <a:solidFill>
              <a:srgbClr val="3182C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223760" y="2249424"/>
            <a:ext cx="91440" cy="73152"/>
          </a:xfrm>
          <a:prstGeom prst="rect">
            <a:avLst/>
          </a:prstGeom>
          <a:solidFill>
            <a:srgbClr val="3182CE"/>
          </a:solidFill>
          <a:ln w="6350">
            <a:solidFill>
              <a:srgbClr val="3182C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818120" y="1645920"/>
            <a:ext cx="1280160" cy="1280160"/>
          </a:xfrm>
          <a:prstGeom prst="rect">
            <a:avLst>
              <a:gd name="adj" fmla="val 50000"/>
            </a:avLst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818120" y="182880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技术报告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7498080" y="3063240"/>
            <a:ext cx="1920240" cy="640080"/>
          </a:xfrm>
          <a:prstGeom prst="rect">
            <a:avLst/>
          </a:prstGeom>
          <a:solidFill>
            <a:srgbClr val="F7FAFC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498080" y="31089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深度知识生成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规则库设计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498080" y="3794760"/>
            <a:ext cx="1920240" cy="320040"/>
          </a:xfrm>
          <a:prstGeom prst="rect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0" y="38221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↑10x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7498080" y="41605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2周→1-2天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9098280" y="2286000"/>
            <a:ext cx="457200" cy="0"/>
          </a:xfrm>
          <a:prstGeom prst="line">
            <a:avLst/>
          </a:prstGeom>
          <a:noFill/>
          <a:ln w="25400">
            <a:solidFill>
              <a:srgbClr val="3182C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509760" y="2249424"/>
            <a:ext cx="91440" cy="73152"/>
          </a:xfrm>
          <a:prstGeom prst="rect">
            <a:avLst/>
          </a:prstGeom>
          <a:solidFill>
            <a:srgbClr val="3182CE"/>
          </a:solidFill>
          <a:ln w="6350">
            <a:solidFill>
              <a:srgbClr val="3182C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104120" y="1645920"/>
            <a:ext cx="1280160" cy="1280160"/>
          </a:xfrm>
          <a:prstGeom prst="rect">
            <a:avLst>
              <a:gd name="adj" fmla="val 50000"/>
            </a:avLst>
          </a:prstGeom>
          <a:solidFill>
            <a:srgbClr val="319795"/>
          </a:solidFill>
          <a:ln w="12700">
            <a:solidFill>
              <a:srgbClr val="31979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104120" y="182880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Demo原型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9784080" y="3063240"/>
            <a:ext cx="1920240" cy="640080"/>
          </a:xfrm>
          <a:prstGeom prst="rect">
            <a:avLst/>
          </a:prstGeom>
          <a:solidFill>
            <a:srgbClr val="F7FAFC"/>
          </a:solidFill>
          <a:ln w="12700">
            <a:solidFill>
              <a:srgbClr val="31979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784080" y="31089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代码自动生成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可视化组件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9784080" y="3794760"/>
            <a:ext cx="1920240" cy="320040"/>
          </a:xfrm>
          <a:prstGeom prst="rect">
            <a:avLst/>
          </a:prstGeom>
          <a:solidFill>
            <a:srgbClr val="319795"/>
          </a:solidFill>
          <a:ln w="12700">
            <a:solidFill>
              <a:srgbClr val="31979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784080" y="38221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↓85%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9784080" y="41605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2周→3天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274320" y="4572000"/>
            <a:ext cx="11640312" cy="457200"/>
          </a:xfrm>
          <a:prstGeom prst="rect">
            <a:avLst/>
          </a:prstGeom>
          <a:solidFill>
            <a:srgbClr val="EBF8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7200" y="4645152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182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AI知识生产基础库（中国科技云 + Bing学术） → IMA知识库 → 全流程知识注入与复用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274320" y="5212080"/>
            <a:ext cx="11640312" cy="1280160"/>
          </a:xfrm>
          <a:prstGeom prst="rect">
            <a:avLst/>
          </a:prstGeom>
          <a:solidFill>
            <a:srgbClr val="F7FA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57200" y="5257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各环节效率对比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577840"/>
          <a:ext cx="1127455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097280"/>
                <a:gridCol w="1371600"/>
                <a:gridCol w="18288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环节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传统模式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AI模式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效率提升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质量改善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扩展潜力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申报简表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2-3天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0.5天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↓83%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通过率80%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智能查重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指南编写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1-2天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↑5x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对齐度95%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A/B测试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可研报告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2天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↑7x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图表22张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模板复用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技术报告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1-2天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↑10x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140规则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知识复用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Demo原型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3天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↑85%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交互可视化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组件市场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1164031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 申报简表 — AI辅助框架搭建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475488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3B3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从2-3天缩短至0.5天，一次通过率80%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知识库构建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54328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1354328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学术文献流转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08656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2708656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全流程概览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62984" y="822960"/>
            <a:ext cx="1354328" cy="41148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12" name="Text 10"/>
          <p:cNvSpPr/>
          <p:nvPr/>
        </p:nvSpPr>
        <p:spPr>
          <a:xfrm>
            <a:off x="4062984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申报简表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17312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417312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指南编写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71640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6771640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可研报告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25968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8125968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技术报告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480296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9480296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Demo原型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834624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10834624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成果展望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1234440"/>
            <a:ext cx="12188952" cy="0"/>
          </a:xfrm>
          <a:prstGeom prst="line">
            <a:avLst/>
          </a:prstGeom>
          <a:noFill/>
          <a:ln w="25400">
            <a:solidFill>
              <a:srgbClr val="3182C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1371600"/>
            <a:ext cx="11640312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1417320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3.1.1 AI辅助会议三阶段流程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1828800"/>
            <a:ext cx="3819144" cy="2286000"/>
          </a:xfrm>
          <a:prstGeom prst="rect">
            <a:avLst/>
          </a:prstGeom>
          <a:solidFill>
            <a:srgbClr val="F7FAFC"/>
          </a:solidFill>
          <a:ln w="25400">
            <a:solidFill>
              <a:srgbClr val="3182C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1828800"/>
            <a:ext cx="3819144" cy="365760"/>
          </a:xfrm>
          <a:prstGeom prst="rect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1874520"/>
            <a:ext cx="381914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 需求调研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2331720"/>
            <a:ext cx="36362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技术方向确认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目标与资源梳理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017520"/>
            <a:ext cx="3453384" cy="274320"/>
          </a:xfrm>
          <a:prstGeom prst="rect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044952"/>
            <a:ext cx="345338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WorkBuddy+IMA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093464" y="2971800"/>
            <a:ext cx="73152" cy="0"/>
          </a:xfrm>
          <a:prstGeom prst="line">
            <a:avLst/>
          </a:prstGeom>
          <a:noFill/>
          <a:ln w="25400">
            <a:solidFill>
              <a:srgbClr val="D69E2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20896" y="2935224"/>
            <a:ext cx="91440" cy="73152"/>
          </a:xfrm>
          <a:prstGeom prst="rect">
            <a:avLst/>
          </a:prstGeom>
          <a:solidFill>
            <a:srgbClr val="D69E2E"/>
          </a:solidFill>
          <a:ln w="6350">
            <a:solidFill>
              <a:srgbClr val="D69E2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84904" y="1828800"/>
            <a:ext cx="3819144" cy="2286000"/>
          </a:xfrm>
          <a:prstGeom prst="rect">
            <a:avLst/>
          </a:prstGeom>
          <a:solidFill>
            <a:srgbClr val="F7FAFC"/>
          </a:solidFill>
          <a:ln w="25400">
            <a:solidFill>
              <a:srgbClr val="D69E2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84904" y="1828800"/>
            <a:ext cx="3819144" cy="36576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84904" y="1874520"/>
            <a:ext cx="381914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 AI智能生成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276344" y="2331720"/>
            <a:ext cx="36362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需求→简表框架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多版本迭代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367784" y="3017520"/>
            <a:ext cx="3453384" cy="27432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67784" y="3044952"/>
            <a:ext cx="345338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WorkBuddy+WebSearch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004048" y="2971800"/>
            <a:ext cx="73152" cy="0"/>
          </a:xfrm>
          <a:prstGeom prst="line">
            <a:avLst/>
          </a:prstGeom>
          <a:noFill/>
          <a:ln w="25400">
            <a:solidFill>
              <a:srgbClr val="D69E2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31480" y="2935224"/>
            <a:ext cx="91440" cy="73152"/>
          </a:xfrm>
          <a:prstGeom prst="rect">
            <a:avLst/>
          </a:prstGeom>
          <a:solidFill>
            <a:srgbClr val="D69E2E"/>
          </a:solidFill>
          <a:ln w="6350">
            <a:solidFill>
              <a:srgbClr val="D69E2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95488" y="1828800"/>
            <a:ext cx="3819144" cy="2286000"/>
          </a:xfrm>
          <a:prstGeom prst="rect">
            <a:avLst/>
          </a:prstGeom>
          <a:solidFill>
            <a:srgbClr val="F7FAFC"/>
          </a:solidFill>
          <a:ln w="25400">
            <a:solidFill>
              <a:srgbClr val="38A1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95488" y="1828800"/>
            <a:ext cx="3819144" cy="36576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95488" y="1874520"/>
            <a:ext cx="381914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3 专家评审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186928" y="2331720"/>
            <a:ext cx="36362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可行性/创新性评估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AI辅助修改→终稿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278368" y="3017520"/>
            <a:ext cx="3453384" cy="27432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78368" y="3044952"/>
            <a:ext cx="345338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WorkBuddy+IMA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74320" y="4297680"/>
            <a:ext cx="3819144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4389120"/>
            <a:ext cx="363626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182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AI应用场景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365760" y="4709160"/>
            <a:ext cx="36362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输入核心要点→AI自动生成简表框架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65760" y="5001768"/>
            <a:ext cx="36362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多版本快速迭代：10分钟×3版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65760" y="5294376"/>
            <a:ext cx="36362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关键词与指标智能匹配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65760" y="5586984"/>
            <a:ext cx="36362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历史简表模板库复用率70%+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65760" y="5879592"/>
            <a:ext cx="36362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AI解析评分标准与申报要求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184904" y="4297680"/>
            <a:ext cx="3819144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276344" y="4389120"/>
            <a:ext cx="363626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核心成果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4276344" y="4709160"/>
            <a:ext cx="36362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起草时间：2-3天 → 0.5天（↓83%）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276344" y="5001768"/>
            <a:ext cx="36362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一次通过率：80%（历史均值50%）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276344" y="5294376"/>
            <a:ext cx="36362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AI工具：WorkBuddy + IMA + WebSearch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276344" y="5586984"/>
            <a:ext cx="36362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智能查重：自动比对已申报项目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276344" y="5879592"/>
            <a:ext cx="36362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相似项目推荐：基于知识库匹配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8095488" y="4297680"/>
            <a:ext cx="3819144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1979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186928" y="4389120"/>
            <a:ext cx="363626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19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扩展AI应用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8186928" y="4709160"/>
            <a:ext cx="36362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19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评审模拟：AI预评审+评分预测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8186928" y="5001768"/>
            <a:ext cx="36362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19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竞争分析：同批次优劣势对比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8186928" y="5294376"/>
            <a:ext cx="36362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19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申报策略优化：历史数据推荐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8186928" y="5586984"/>
            <a:ext cx="36362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19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自动合规检查：格式/指标校验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8186928" y="5879592"/>
            <a:ext cx="36362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19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多语言申报：中英双语自动生成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274320" y="6355080"/>
            <a:ext cx="11640312" cy="365760"/>
          </a:xfrm>
          <a:prstGeom prst="rect">
            <a:avLst/>
          </a:prstGeom>
          <a:solidFill>
            <a:srgbClr val="FED7D7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57200" y="6419088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AI擅长快速提炼和结构化，核心创新点需人工把关；模板库越完善AI效果越好，当前模板复用率已达70%以上。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1164031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 指南编写 — 政策对齐与内容智能生成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475488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3B3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编写效率提升5倍，政策对齐度显著提高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知识库构建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54328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1354328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学术文献流转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08656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2708656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全流程概览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62984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4062984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申报简表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17312" y="822960"/>
            <a:ext cx="1354328" cy="41148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14" name="Text 12"/>
          <p:cNvSpPr/>
          <p:nvPr/>
        </p:nvSpPr>
        <p:spPr>
          <a:xfrm>
            <a:off x="5417312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指南编写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71640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6771640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可研报告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25968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8125968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技术报告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480296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9480296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Demo原型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834624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10834624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成果展望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1234440"/>
            <a:ext cx="12188952" cy="0"/>
          </a:xfrm>
          <a:prstGeom prst="line">
            <a:avLst/>
          </a:prstGeom>
          <a:noFill/>
          <a:ln w="25400">
            <a:solidFill>
              <a:srgbClr val="3182C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1371600"/>
            <a:ext cx="11640312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1417320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3.2.1 政策对齐六步流程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1828800"/>
            <a:ext cx="1863852" cy="1097280"/>
          </a:xfrm>
          <a:prstGeom prst="rect">
            <a:avLst/>
          </a:prstGeom>
          <a:solidFill>
            <a:srgbClr val="F7FAFC"/>
          </a:solidFill>
          <a:ln w="25400">
            <a:solidFill>
              <a:srgbClr val="3182C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1920240"/>
            <a:ext cx="18638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182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政策文档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182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138172" y="2377440"/>
            <a:ext cx="73152" cy="0"/>
          </a:xfrm>
          <a:prstGeom prst="line">
            <a:avLst/>
          </a:prstGeom>
          <a:noFill/>
          <a:ln w="25400">
            <a:solidFill>
              <a:srgbClr val="3182C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65604" y="2340864"/>
            <a:ext cx="91440" cy="73152"/>
          </a:xfrm>
          <a:prstGeom prst="rect">
            <a:avLst/>
          </a:prstGeom>
          <a:solidFill>
            <a:srgbClr val="3182CE"/>
          </a:solidFill>
          <a:ln w="6350">
            <a:solidFill>
              <a:srgbClr val="3182C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83892" y="1828800"/>
            <a:ext cx="1863852" cy="1097280"/>
          </a:xfrm>
          <a:prstGeom prst="rect">
            <a:avLst/>
          </a:prstGeom>
          <a:solidFill>
            <a:srgbClr val="F7FAFC"/>
          </a:solidFill>
          <a:ln w="25400">
            <a:solidFill>
              <a:srgbClr val="D69E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83892" y="1920240"/>
            <a:ext cx="18638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AI解析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评分标准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047744" y="2377440"/>
            <a:ext cx="73152" cy="0"/>
          </a:xfrm>
          <a:prstGeom prst="line">
            <a:avLst/>
          </a:prstGeom>
          <a:noFill/>
          <a:ln w="25400">
            <a:solidFill>
              <a:srgbClr val="D69E2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75176" y="2340864"/>
            <a:ext cx="91440" cy="73152"/>
          </a:xfrm>
          <a:prstGeom prst="rect">
            <a:avLst/>
          </a:prstGeom>
          <a:solidFill>
            <a:srgbClr val="D69E2E"/>
          </a:solidFill>
          <a:ln w="6350">
            <a:solidFill>
              <a:srgbClr val="D69E2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093464" y="1828800"/>
            <a:ext cx="1863852" cy="1097280"/>
          </a:xfrm>
          <a:prstGeom prst="rect">
            <a:avLst/>
          </a:prstGeom>
          <a:solidFill>
            <a:srgbClr val="F7FAFC"/>
          </a:solidFill>
          <a:ln w="25400">
            <a:solidFill>
              <a:srgbClr val="31979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93464" y="1920240"/>
            <a:ext cx="18638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19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技术方向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19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智能梳理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957316" y="2377440"/>
            <a:ext cx="73152" cy="0"/>
          </a:xfrm>
          <a:prstGeom prst="line">
            <a:avLst/>
          </a:prstGeom>
          <a:noFill/>
          <a:ln w="25400">
            <a:solidFill>
              <a:srgbClr val="31979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84748" y="2340864"/>
            <a:ext cx="91440" cy="73152"/>
          </a:xfrm>
          <a:prstGeom prst="rect">
            <a:avLst/>
          </a:prstGeom>
          <a:solidFill>
            <a:srgbClr val="319795"/>
          </a:solidFill>
          <a:ln w="6350">
            <a:solidFill>
              <a:srgbClr val="31979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03036" y="1828800"/>
            <a:ext cx="1863852" cy="1097280"/>
          </a:xfrm>
          <a:prstGeom prst="rect">
            <a:avLst/>
          </a:prstGeom>
          <a:solidFill>
            <a:srgbClr val="F7FAFC"/>
          </a:solidFill>
          <a:ln w="25400">
            <a:solidFill>
              <a:srgbClr val="3182C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03036" y="1920240"/>
            <a:ext cx="18638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182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框架草案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182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自动生成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866888" y="2377440"/>
            <a:ext cx="73152" cy="0"/>
          </a:xfrm>
          <a:prstGeom prst="line">
            <a:avLst/>
          </a:prstGeom>
          <a:noFill/>
          <a:ln w="25400">
            <a:solidFill>
              <a:srgbClr val="3182C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894320" y="2340864"/>
            <a:ext cx="91440" cy="73152"/>
          </a:xfrm>
          <a:prstGeom prst="rect">
            <a:avLst/>
          </a:prstGeom>
          <a:solidFill>
            <a:srgbClr val="3182CE"/>
          </a:solidFill>
          <a:ln w="6350">
            <a:solidFill>
              <a:srgbClr val="3182C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912608" y="1828800"/>
            <a:ext cx="1863852" cy="1097280"/>
          </a:xfrm>
          <a:prstGeom prst="rect">
            <a:avLst/>
          </a:prstGeom>
          <a:solidFill>
            <a:srgbClr val="F7FAFC"/>
          </a:solidFill>
          <a:ln w="25400">
            <a:solidFill>
              <a:srgbClr val="D69E2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12608" y="1920240"/>
            <a:ext cx="18638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多轮审校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政策对齐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776460" y="2377440"/>
            <a:ext cx="73152" cy="0"/>
          </a:xfrm>
          <a:prstGeom prst="line">
            <a:avLst/>
          </a:prstGeom>
          <a:noFill/>
          <a:ln w="25400">
            <a:solidFill>
              <a:srgbClr val="D69E2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803892" y="2340864"/>
            <a:ext cx="91440" cy="73152"/>
          </a:xfrm>
          <a:prstGeom prst="rect">
            <a:avLst/>
          </a:prstGeom>
          <a:solidFill>
            <a:srgbClr val="D69E2E"/>
          </a:solidFill>
          <a:ln w="6350">
            <a:solidFill>
              <a:srgbClr val="D69E2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822180" y="1828800"/>
            <a:ext cx="1863852" cy="1097280"/>
          </a:xfrm>
          <a:prstGeom prst="rect">
            <a:avLst/>
          </a:prstGeom>
          <a:solidFill>
            <a:srgbClr val="F7FAFC"/>
          </a:solidFill>
          <a:ln w="25400">
            <a:solidFill>
              <a:srgbClr val="38A16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822180" y="1920240"/>
            <a:ext cx="18638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A1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终稿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8A1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74320" y="3108960"/>
            <a:ext cx="11640312" cy="365760"/>
          </a:xfrm>
          <a:prstGeom prst="rect">
            <a:avLst/>
          </a:prstGeom>
          <a:solidFill>
            <a:srgbClr val="EBF8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31546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182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IMA知识库支撑：历史指南比对 | 最新政策检索 | 行业标准对齐 | 技术趋势分析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74320" y="3657600"/>
            <a:ext cx="3819144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3749040"/>
            <a:ext cx="363626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182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AI应用场景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65760" y="4069080"/>
            <a:ext cx="36362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政策文档解析→自动提取评分标准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65760" y="4361688"/>
            <a:ext cx="36362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技术方向梳理→AI生成指南框架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65760" y="4654296"/>
            <a:ext cx="36362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多轮审校对齐→确保政策一致性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65760" y="4946904"/>
            <a:ext cx="36362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历史指南库比对→避免重复冲突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65760" y="5239512"/>
            <a:ext cx="36362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AI知识库实时检索最新政策动态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65760" y="5532120"/>
            <a:ext cx="36362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自动生成章节结构与内容模板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184904" y="3657600"/>
            <a:ext cx="3819144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76344" y="3749040"/>
            <a:ext cx="363626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核心成果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4276344" y="4069080"/>
            <a:ext cx="36362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编写效率：提升5倍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276344" y="4361688"/>
            <a:ext cx="36362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政策对齐度：60%→95%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276344" y="4654296"/>
            <a:ext cx="36362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多版本对比：3版/小时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276344" y="4946904"/>
            <a:ext cx="36362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AI工具：WorkBuddy+IMA+WebSearch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276344" y="5239512"/>
            <a:ext cx="36362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案例：智能电网/计量/新型电力系统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8095488" y="3657600"/>
            <a:ext cx="3819144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31979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186928" y="3749040"/>
            <a:ext cx="363626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19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扩展AI应用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8186928" y="4069080"/>
            <a:ext cx="36362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19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多版本A/B测试：自动对比最优方案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8186928" y="4361688"/>
            <a:ext cx="36362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19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合规性自动评审：逐项检查匹配度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8186928" y="4654296"/>
            <a:ext cx="36362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19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专家知识注入：行业经验数字化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8186928" y="4946904"/>
            <a:ext cx="36362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19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跨区域政策差异：南网vs国网对比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8186928" y="5239512"/>
            <a:ext cx="36362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19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智能推荐：基于项目特征推荐模板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274320" y="6355080"/>
            <a:ext cx="11640312" cy="365760"/>
          </a:xfrm>
          <a:prstGeom prst="rect">
            <a:avLst/>
          </a:prstGeom>
          <a:solidFill>
            <a:srgbClr val="FED7D7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57200" y="6419088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政策合规性必须人工审核，涉密条款尤甚；AI生成的框架需经专家确认后才可定稿。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1164031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 可研报告 — 全量自动化生成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475488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3B3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脚本化 &gt; 对话式，一次编写多次复用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知识库构建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54328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1354328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学术文献流转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08656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2708656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全流程概览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62984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4062984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申报简表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17312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417312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指南编写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71640" y="822960"/>
            <a:ext cx="1354328" cy="41148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16" name="Text 14"/>
          <p:cNvSpPr/>
          <p:nvPr/>
        </p:nvSpPr>
        <p:spPr>
          <a:xfrm>
            <a:off x="6771640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可研报告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25968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8125968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技术报告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480296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9480296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Demo原型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834624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10834624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成果展望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1234440"/>
            <a:ext cx="12188952" cy="0"/>
          </a:xfrm>
          <a:prstGeom prst="line">
            <a:avLst/>
          </a:prstGeom>
          <a:noFill/>
          <a:ln w="25400">
            <a:solidFill>
              <a:srgbClr val="3182C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1371600"/>
            <a:ext cx="11640312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1417320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3.3.1 数据→图表→报告全链路自动化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1828800"/>
            <a:ext cx="2245766" cy="1645920"/>
          </a:xfrm>
          <a:prstGeom prst="rect">
            <a:avLst/>
          </a:prstGeom>
          <a:solidFill>
            <a:srgbClr val="F7FAFC"/>
          </a:solidFill>
          <a:ln w="25400">
            <a:solidFill>
              <a:srgbClr val="3182C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1920240"/>
            <a:ext cx="22457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182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原始数据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182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0040" y="2560320"/>
            <a:ext cx="215432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实验数据/调研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文献/规则库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20086" y="2651760"/>
            <a:ext cx="73152" cy="0"/>
          </a:xfrm>
          <a:prstGeom prst="line">
            <a:avLst/>
          </a:prstGeom>
          <a:noFill/>
          <a:ln w="25400">
            <a:solidFill>
              <a:srgbClr val="3182C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47518" y="2615184"/>
            <a:ext cx="91440" cy="73152"/>
          </a:xfrm>
          <a:prstGeom prst="rect">
            <a:avLst/>
          </a:prstGeom>
          <a:solidFill>
            <a:srgbClr val="3182CE"/>
          </a:solidFill>
          <a:ln w="6350">
            <a:solidFill>
              <a:srgbClr val="3182C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5806" y="1828800"/>
            <a:ext cx="2245766" cy="1645920"/>
          </a:xfrm>
          <a:prstGeom prst="rect">
            <a:avLst/>
          </a:prstGeom>
          <a:solidFill>
            <a:srgbClr val="F7FAFC"/>
          </a:solidFill>
          <a:ln w="25400">
            <a:solidFill>
              <a:srgbClr val="D69E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5806" y="1920240"/>
            <a:ext cx="22457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matplotlib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611526" y="2560320"/>
            <a:ext cx="215432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68维特征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PCA/t-SNE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11573" y="2651760"/>
            <a:ext cx="73152" cy="0"/>
          </a:xfrm>
          <a:prstGeom prst="line">
            <a:avLst/>
          </a:prstGeom>
          <a:noFill/>
          <a:ln w="25400">
            <a:solidFill>
              <a:srgbClr val="D69E2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39005" y="2615184"/>
            <a:ext cx="91440" cy="73152"/>
          </a:xfrm>
          <a:prstGeom prst="rect">
            <a:avLst/>
          </a:prstGeom>
          <a:solidFill>
            <a:srgbClr val="D69E2E"/>
          </a:solidFill>
          <a:ln w="6350">
            <a:solidFill>
              <a:srgbClr val="D69E2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57293" y="1828800"/>
            <a:ext cx="2245766" cy="1645920"/>
          </a:xfrm>
          <a:prstGeom prst="rect">
            <a:avLst/>
          </a:prstGeom>
          <a:solidFill>
            <a:srgbClr val="F7FAFC"/>
          </a:solidFill>
          <a:ln w="25400">
            <a:solidFill>
              <a:srgbClr val="31979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57293" y="1920240"/>
            <a:ext cx="22457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19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图表自动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19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生成22张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03013" y="2560320"/>
            <a:ext cx="215432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分布/热力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相关性/趋势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103059" y="2651760"/>
            <a:ext cx="73152" cy="0"/>
          </a:xfrm>
          <a:prstGeom prst="line">
            <a:avLst/>
          </a:prstGeom>
          <a:noFill/>
          <a:ln w="25400">
            <a:solidFill>
              <a:srgbClr val="31979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30491" y="2615184"/>
            <a:ext cx="91440" cy="73152"/>
          </a:xfrm>
          <a:prstGeom prst="rect">
            <a:avLst/>
          </a:prstGeom>
          <a:solidFill>
            <a:srgbClr val="319795"/>
          </a:solidFill>
          <a:ln w="6350">
            <a:solidFill>
              <a:srgbClr val="31979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48779" y="1828800"/>
            <a:ext cx="2245766" cy="1645920"/>
          </a:xfrm>
          <a:prstGeom prst="rect">
            <a:avLst/>
          </a:prstGeom>
          <a:solidFill>
            <a:srgbClr val="F7FAFC"/>
          </a:solidFill>
          <a:ln w="25400">
            <a:solidFill>
              <a:srgbClr val="3182C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48779" y="1920240"/>
            <a:ext cx="22457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182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docx-js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182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脚本生成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194499" y="2560320"/>
            <a:ext cx="215432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6章结构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文献+附录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394546" y="2651760"/>
            <a:ext cx="73152" cy="0"/>
          </a:xfrm>
          <a:prstGeom prst="line">
            <a:avLst/>
          </a:prstGeom>
          <a:noFill/>
          <a:ln w="25400">
            <a:solidFill>
              <a:srgbClr val="3182C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421978" y="2615184"/>
            <a:ext cx="91440" cy="73152"/>
          </a:xfrm>
          <a:prstGeom prst="rect">
            <a:avLst/>
          </a:prstGeom>
          <a:solidFill>
            <a:srgbClr val="3182CE"/>
          </a:solidFill>
          <a:ln w="6350">
            <a:solidFill>
              <a:srgbClr val="3182C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440266" y="1828800"/>
            <a:ext cx="2245766" cy="1645920"/>
          </a:xfrm>
          <a:prstGeom prst="rect">
            <a:avLst/>
          </a:prstGeom>
          <a:solidFill>
            <a:srgbClr val="F7FAFC"/>
          </a:solidFill>
          <a:ln w="25400">
            <a:solidFill>
              <a:srgbClr val="38A16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440266" y="1920240"/>
            <a:ext cx="22457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A1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8A1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485986" y="2560320"/>
            <a:ext cx="215432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1.35MB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100+页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74320" y="3657600"/>
            <a:ext cx="11640312" cy="365760"/>
          </a:xfrm>
          <a:prstGeom prst="rect">
            <a:avLst/>
          </a:prstGeom>
          <a:solidFill>
            <a:srgbClr val="EBF8FF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37033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IMA知识库支撑：文献综述自动引用 | 规则库数据注入 | 历史报告模板复用 | 技术标准关联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74320" y="4206240"/>
            <a:ext cx="3819144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4297680"/>
            <a:ext cx="363626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182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AI应用场景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365760" y="4617720"/>
            <a:ext cx="36362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docx-js脚本自动生成完整报告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65760" y="4910328"/>
            <a:ext cx="36362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22张matplotlib图表自动嵌入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65760" y="5202936"/>
            <a:ext cx="36362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6章+20文献+3附录深度编排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65760" y="5495544"/>
            <a:ext cx="36362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数据→分析→图表→文字全链路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65760" y="5788152"/>
            <a:ext cx="36362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可研预算自动估算与校验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184904" y="4206240"/>
            <a:ext cx="3819144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76344" y="4297680"/>
            <a:ext cx="363626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核心成果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4276344" y="4617720"/>
            <a:ext cx="36362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报告规模：1.35MB（6章+20文献+3附录）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276344" y="4910328"/>
            <a:ext cx="36362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图表数量：22张自动嵌入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276344" y="5202936"/>
            <a:ext cx="36362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生成时间：2周→2天（↑7x）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276344" y="5495544"/>
            <a:ext cx="36362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AI工具：docx-js+matplotlib+WorkBuddy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276344" y="5788152"/>
            <a:ext cx="36362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脚本复用：一次编写多项目适配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8095488" y="4206240"/>
            <a:ext cx="3819144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1979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186928" y="4297680"/>
            <a:ext cx="363626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19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扩展AI应用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8186928" y="4617720"/>
            <a:ext cx="36362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19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多项目模板复用：不同项目自动适配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8186928" y="4910328"/>
            <a:ext cx="36362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19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自动校审：格式/编号/引用一致性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8186928" y="5202936"/>
            <a:ext cx="36362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19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可研指标自动计算：ROI/回收期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8186928" y="5495544"/>
            <a:ext cx="36362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19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风险评估矩阵：技术/市场风险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8186928" y="5788152"/>
            <a:ext cx="36362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19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同行评审模拟：AI预判关注点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274320" y="6355080"/>
            <a:ext cx="11640312" cy="365760"/>
          </a:xfrm>
          <a:prstGeom prst="rect">
            <a:avLst/>
          </a:prstGeom>
          <a:solidFill>
            <a:srgbClr val="FED7D7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57200" y="6419088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脚本化&gt;对话式，一次编写脚本可多次复用迭代；数据→图表→文字全链路自动化是最大突破。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1164031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3.4 技术研究报告 — 深度生成与知识库沉淀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475488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3B3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效率提升10倍，脚本化+图表+知识库形成闭环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知识库构建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54328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1354328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学术文献流转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08656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2708656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全流程概览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62984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4062984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申报简表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17312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417312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指南编写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71640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6771640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可研报告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25968" y="822960"/>
            <a:ext cx="1354328" cy="41148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18" name="Text 16"/>
          <p:cNvSpPr/>
          <p:nvPr/>
        </p:nvSpPr>
        <p:spPr>
          <a:xfrm>
            <a:off x="8125968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技术报告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480296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9480296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Demo原型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834624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10834624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成果展望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1234440"/>
            <a:ext cx="12188952" cy="0"/>
          </a:xfrm>
          <a:prstGeom prst="line">
            <a:avLst/>
          </a:prstGeom>
          <a:noFill/>
          <a:ln w="25400">
            <a:solidFill>
              <a:srgbClr val="3182C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1371600"/>
            <a:ext cx="11640312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1417320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3.4.1 三层级规则库与模型推导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1828800"/>
            <a:ext cx="3819144" cy="1371600"/>
          </a:xfrm>
          <a:prstGeom prst="rect">
            <a:avLst/>
          </a:prstGeom>
          <a:solidFill>
            <a:srgbClr val="F7FAFC"/>
          </a:solidFill>
          <a:ln w="25400">
            <a:solidFill>
              <a:srgbClr val="3182C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1828800"/>
            <a:ext cx="3819144" cy="365760"/>
          </a:xfrm>
          <a:prstGeom prst="rect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1874520"/>
            <a:ext cx="381914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单元级规则 87条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2331720"/>
            <a:ext cx="36362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终端/表计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单设备故障诊断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093464" y="2514600"/>
            <a:ext cx="73152" cy="0"/>
          </a:xfrm>
          <a:prstGeom prst="line">
            <a:avLst/>
          </a:prstGeom>
          <a:noFill/>
          <a:ln w="25400">
            <a:solidFill>
              <a:srgbClr val="D69E2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20896" y="2478024"/>
            <a:ext cx="91440" cy="73152"/>
          </a:xfrm>
          <a:prstGeom prst="rect">
            <a:avLst/>
          </a:prstGeom>
          <a:solidFill>
            <a:srgbClr val="D69E2E"/>
          </a:solidFill>
          <a:ln w="6350">
            <a:solidFill>
              <a:srgbClr val="D69E2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84904" y="1828800"/>
            <a:ext cx="3819144" cy="1371600"/>
          </a:xfrm>
          <a:prstGeom prst="rect">
            <a:avLst/>
          </a:prstGeom>
          <a:solidFill>
            <a:srgbClr val="F7FAFC"/>
          </a:solidFill>
          <a:ln w="25400">
            <a:solidFill>
              <a:srgbClr val="D69E2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84904" y="1828800"/>
            <a:ext cx="3819144" cy="36576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84904" y="1874520"/>
            <a:ext cx="381914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设备级规则 34条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276344" y="2331720"/>
            <a:ext cx="36362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多参数关联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健康状态评估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004048" y="2514600"/>
            <a:ext cx="73152" cy="0"/>
          </a:xfrm>
          <a:prstGeom prst="line">
            <a:avLst/>
          </a:prstGeom>
          <a:noFill/>
          <a:ln w="25400">
            <a:solidFill>
              <a:srgbClr val="D69E2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31480" y="2478024"/>
            <a:ext cx="91440" cy="73152"/>
          </a:xfrm>
          <a:prstGeom prst="rect">
            <a:avLst/>
          </a:prstGeom>
          <a:solidFill>
            <a:srgbClr val="D69E2E"/>
          </a:solidFill>
          <a:ln w="6350">
            <a:solidFill>
              <a:srgbClr val="D69E2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95488" y="1828800"/>
            <a:ext cx="3819144" cy="1371600"/>
          </a:xfrm>
          <a:prstGeom prst="rect">
            <a:avLst/>
          </a:prstGeom>
          <a:solidFill>
            <a:srgbClr val="F7FAFC"/>
          </a:solidFill>
          <a:ln w="25400">
            <a:solidFill>
              <a:srgbClr val="31979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95488" y="1828800"/>
            <a:ext cx="3819144" cy="365760"/>
          </a:xfrm>
          <a:prstGeom prst="rect">
            <a:avLst/>
          </a:prstGeom>
          <a:solidFill>
            <a:srgbClr val="319795"/>
          </a:solidFill>
          <a:ln w="12700">
            <a:solidFill>
              <a:srgbClr val="31979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95488" y="1874520"/>
            <a:ext cx="381914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台区级规则 19条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186928" y="2331720"/>
            <a:ext cx="36362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区域级故障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定位与预警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4320" y="3383280"/>
            <a:ext cx="5486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42900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182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模型推导流程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3749040"/>
            <a:ext cx="914400" cy="411480"/>
          </a:xfrm>
          <a:prstGeom prst="rect">
            <a:avLst>
              <a:gd name="adj" fmla="val 8889"/>
            </a:avLst>
          </a:prstGeom>
          <a:solidFill>
            <a:srgbClr val="F7FAFC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3776472"/>
            <a:ext cx="82296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数据收集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371600" y="3950208"/>
            <a:ext cx="73152" cy="0"/>
          </a:xfrm>
          <a:prstGeom prst="line">
            <a:avLst/>
          </a:prstGeom>
          <a:noFill/>
          <a:ln w="25400">
            <a:solidFill>
              <a:srgbClr val="3182C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99032" y="3913632"/>
            <a:ext cx="91440" cy="73152"/>
          </a:xfrm>
          <a:prstGeom prst="rect">
            <a:avLst/>
          </a:prstGeom>
          <a:solidFill>
            <a:srgbClr val="3182CE"/>
          </a:solidFill>
          <a:ln w="6350">
            <a:solidFill>
              <a:srgbClr val="3182C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463040" y="3749040"/>
            <a:ext cx="914400" cy="411480"/>
          </a:xfrm>
          <a:prstGeom prst="rect">
            <a:avLst>
              <a:gd name="adj" fmla="val 8889"/>
            </a:avLst>
          </a:prstGeom>
          <a:solidFill>
            <a:srgbClr val="F7FAFC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508760" y="3776472"/>
            <a:ext cx="82296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特征工程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377440" y="3950208"/>
            <a:ext cx="73152" cy="0"/>
          </a:xfrm>
          <a:prstGeom prst="line">
            <a:avLst/>
          </a:prstGeom>
          <a:noFill/>
          <a:ln w="25400">
            <a:solidFill>
              <a:srgbClr val="3182C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404872" y="3913632"/>
            <a:ext cx="91440" cy="73152"/>
          </a:xfrm>
          <a:prstGeom prst="rect">
            <a:avLst/>
          </a:prstGeom>
          <a:solidFill>
            <a:srgbClr val="3182CE"/>
          </a:solidFill>
          <a:ln w="6350">
            <a:solidFill>
              <a:srgbClr val="3182C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468880" y="3749040"/>
            <a:ext cx="914400" cy="411480"/>
          </a:xfrm>
          <a:prstGeom prst="rect">
            <a:avLst>
              <a:gd name="adj" fmla="val 8889"/>
            </a:avLst>
          </a:prstGeom>
          <a:solidFill>
            <a:srgbClr val="F7FAFC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514600" y="3776472"/>
            <a:ext cx="82296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CHI/Arrhenius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模型推导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383280" y="3950208"/>
            <a:ext cx="73152" cy="0"/>
          </a:xfrm>
          <a:prstGeom prst="line">
            <a:avLst/>
          </a:prstGeom>
          <a:noFill/>
          <a:ln w="25400">
            <a:solidFill>
              <a:srgbClr val="3182C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410712" y="3913632"/>
            <a:ext cx="91440" cy="73152"/>
          </a:xfrm>
          <a:prstGeom prst="rect">
            <a:avLst/>
          </a:prstGeom>
          <a:solidFill>
            <a:srgbClr val="3182CE"/>
          </a:solidFill>
          <a:ln w="6350">
            <a:solidFill>
              <a:srgbClr val="3182C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474720" y="3749040"/>
            <a:ext cx="914400" cy="411480"/>
          </a:xfrm>
          <a:prstGeom prst="rect">
            <a:avLst>
              <a:gd name="adj" fmla="val 8889"/>
            </a:avLst>
          </a:prstGeom>
          <a:solidFill>
            <a:srgbClr val="F7FAFC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520440" y="3776472"/>
            <a:ext cx="82296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规则提取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389120" y="3950208"/>
            <a:ext cx="73152" cy="0"/>
          </a:xfrm>
          <a:prstGeom prst="line">
            <a:avLst/>
          </a:prstGeom>
          <a:noFill/>
          <a:ln w="25400">
            <a:solidFill>
              <a:srgbClr val="3182C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416552" y="3913632"/>
            <a:ext cx="91440" cy="73152"/>
          </a:xfrm>
          <a:prstGeom prst="rect">
            <a:avLst/>
          </a:prstGeom>
          <a:solidFill>
            <a:srgbClr val="3182CE"/>
          </a:solidFill>
          <a:ln w="6350">
            <a:solidFill>
              <a:srgbClr val="3182C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480560" y="3749040"/>
            <a:ext cx="914400" cy="411480"/>
          </a:xfrm>
          <a:prstGeom prst="rect">
            <a:avLst>
              <a:gd name="adj" fmla="val 8889"/>
            </a:avLst>
          </a:prstGeom>
          <a:solidFill>
            <a:srgbClr val="F7FAFC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26280" y="3776472"/>
            <a:ext cx="82296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报告生成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309360" y="3383280"/>
            <a:ext cx="5120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31979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00800" y="342900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19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知识沉淀闭环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492240" y="3749040"/>
            <a:ext cx="822960" cy="411480"/>
          </a:xfrm>
          <a:prstGeom prst="rect">
            <a:avLst>
              <a:gd name="adj" fmla="val 8889"/>
            </a:avLst>
          </a:prstGeom>
          <a:solidFill>
            <a:srgbClr val="F7FAFC"/>
          </a:solidFill>
          <a:ln w="12700">
            <a:solidFill>
              <a:srgbClr val="31979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537960" y="3776472"/>
            <a:ext cx="7315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技术报告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315200" y="3950208"/>
            <a:ext cx="109728" cy="0"/>
          </a:xfrm>
          <a:prstGeom prst="line">
            <a:avLst/>
          </a:prstGeom>
          <a:noFill/>
          <a:ln w="25400">
            <a:solidFill>
              <a:srgbClr val="31979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379208" y="3913632"/>
            <a:ext cx="91440" cy="73152"/>
          </a:xfrm>
          <a:prstGeom prst="rect">
            <a:avLst/>
          </a:prstGeom>
          <a:solidFill>
            <a:srgbClr val="319795"/>
          </a:solidFill>
          <a:ln w="6350">
            <a:solidFill>
              <a:srgbClr val="31979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452360" y="3749040"/>
            <a:ext cx="822960" cy="411480"/>
          </a:xfrm>
          <a:prstGeom prst="rect">
            <a:avLst>
              <a:gd name="adj" fmla="val 8889"/>
            </a:avLst>
          </a:prstGeom>
          <a:solidFill>
            <a:srgbClr val="F7FAFC"/>
          </a:solidFill>
          <a:ln w="12700">
            <a:solidFill>
              <a:srgbClr val="31979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98080" y="3776472"/>
            <a:ext cx="7315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IMA归档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8275320" y="3950208"/>
            <a:ext cx="109728" cy="0"/>
          </a:xfrm>
          <a:prstGeom prst="line">
            <a:avLst/>
          </a:prstGeom>
          <a:noFill/>
          <a:ln w="25400">
            <a:solidFill>
              <a:srgbClr val="319795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339328" y="3913632"/>
            <a:ext cx="91440" cy="73152"/>
          </a:xfrm>
          <a:prstGeom prst="rect">
            <a:avLst/>
          </a:prstGeom>
          <a:solidFill>
            <a:srgbClr val="319795"/>
          </a:solidFill>
          <a:ln w="6350">
            <a:solidFill>
              <a:srgbClr val="31979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412480" y="3749040"/>
            <a:ext cx="822960" cy="411480"/>
          </a:xfrm>
          <a:prstGeom prst="rect">
            <a:avLst>
              <a:gd name="adj" fmla="val 8889"/>
            </a:avLst>
          </a:prstGeom>
          <a:solidFill>
            <a:srgbClr val="F7FAFC"/>
          </a:solidFill>
          <a:ln w="12700">
            <a:solidFill>
              <a:srgbClr val="31979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458200" y="3776472"/>
            <a:ext cx="7315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知识复用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9235440" y="3950208"/>
            <a:ext cx="109728" cy="0"/>
          </a:xfrm>
          <a:prstGeom prst="line">
            <a:avLst/>
          </a:prstGeom>
          <a:noFill/>
          <a:ln w="25400">
            <a:solidFill>
              <a:srgbClr val="31979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299448" y="3913632"/>
            <a:ext cx="91440" cy="73152"/>
          </a:xfrm>
          <a:prstGeom prst="rect">
            <a:avLst/>
          </a:prstGeom>
          <a:solidFill>
            <a:srgbClr val="319795"/>
          </a:solidFill>
          <a:ln w="6350">
            <a:solidFill>
              <a:srgbClr val="31979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372600" y="3749040"/>
            <a:ext cx="822960" cy="411480"/>
          </a:xfrm>
          <a:prstGeom prst="rect">
            <a:avLst>
              <a:gd name="adj" fmla="val 8889"/>
            </a:avLst>
          </a:prstGeom>
          <a:solidFill>
            <a:srgbClr val="F7FAFC"/>
          </a:solidFill>
          <a:ln w="12700">
            <a:solidFill>
              <a:srgbClr val="31979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418320" y="3776472"/>
            <a:ext cx="7315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新项目注入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10195560" y="3950208"/>
            <a:ext cx="109728" cy="0"/>
          </a:xfrm>
          <a:prstGeom prst="line">
            <a:avLst/>
          </a:prstGeom>
          <a:noFill/>
          <a:ln w="25400">
            <a:solidFill>
              <a:srgbClr val="319795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259568" y="3913632"/>
            <a:ext cx="91440" cy="73152"/>
          </a:xfrm>
          <a:prstGeom prst="rect">
            <a:avLst/>
          </a:prstGeom>
          <a:solidFill>
            <a:srgbClr val="319795"/>
          </a:solidFill>
          <a:ln w="6350">
            <a:solidFill>
              <a:srgbClr val="319795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332720" y="3749040"/>
            <a:ext cx="822960" cy="411480"/>
          </a:xfrm>
          <a:prstGeom prst="rect">
            <a:avLst>
              <a:gd name="adj" fmla="val 8889"/>
            </a:avLst>
          </a:prstGeom>
          <a:solidFill>
            <a:srgbClr val="F7FAFC"/>
          </a:solidFill>
          <a:ln w="12700">
            <a:solidFill>
              <a:srgbClr val="319795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0378440" y="3776472"/>
            <a:ext cx="7315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持续迭代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274320" y="4480560"/>
            <a:ext cx="381914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65760" y="4572000"/>
            <a:ext cx="363626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182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AI应用场景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365760" y="4846320"/>
            <a:ext cx="363626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140条规则库三层级设计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365760" y="5120640"/>
            <a:ext cx="363626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CHI/Arrhenius模型推导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365760" y="5394960"/>
            <a:ext cx="363626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技术报告深度生成6章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365760" y="5669280"/>
            <a:ext cx="363626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知识库沉淀自动归档IMA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365760" y="5943600"/>
            <a:ext cx="363626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规则冲突检测与校验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4184904" y="4480560"/>
            <a:ext cx="381914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276344" y="4572000"/>
            <a:ext cx="363626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核心成果</a:t>
            </a:r>
            <a:endParaRPr lang="en-US" sz="1200" dirty="0"/>
          </a:p>
        </p:txBody>
      </p:sp>
      <p:sp>
        <p:nvSpPr>
          <p:cNvPr id="91" name="Text 89"/>
          <p:cNvSpPr/>
          <p:nvPr/>
        </p:nvSpPr>
        <p:spPr>
          <a:xfrm>
            <a:off x="4276344" y="4846320"/>
            <a:ext cx="363626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规则库：140条（三层级完整）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4276344" y="5120640"/>
            <a:ext cx="363626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报告效率：提升10倍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4276344" y="5394960"/>
            <a:ext cx="363626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知识沉淀：IMA自动归档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4276344" y="5669280"/>
            <a:ext cx="363626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案例：终端/表计/台区诊断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8095488" y="4480560"/>
            <a:ext cx="381914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19795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186928" y="4572000"/>
            <a:ext cx="363626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19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扩展AI应用</a:t>
            </a:r>
            <a:endParaRPr lang="en-US" sz="1200" dirty="0"/>
          </a:p>
        </p:txBody>
      </p:sp>
      <p:sp>
        <p:nvSpPr>
          <p:cNvPr id="97" name="Text 95"/>
          <p:cNvSpPr/>
          <p:nvPr/>
        </p:nvSpPr>
        <p:spPr>
          <a:xfrm>
            <a:off x="8186928" y="4846320"/>
            <a:ext cx="363626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19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规则自动发现：数据挖掘新规则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8186928" y="5120640"/>
            <a:ext cx="363626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19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跨项目知识复用：技术自动迁移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8186928" y="5394960"/>
            <a:ext cx="363626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19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技术评审自动化：AI预审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8186928" y="5669280"/>
            <a:ext cx="363626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19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模型迭代优化：新数据→更新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274320" y="6355080"/>
            <a:ext cx="11640312" cy="365760"/>
          </a:xfrm>
          <a:prstGeom prst="rect">
            <a:avLst/>
          </a:prstGeom>
          <a:solidFill>
            <a:srgbClr val="FED7D7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57200" y="6419088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脚本化+图表+知识库形成完整闭环；技术深度内容AI辅助但核心推导需专家把关。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1164031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3.5 Demo原型设计 — 代码生成与可视化组件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475488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3B3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原型周期2周→3天，周报已全自动化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知识库构建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54328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1354328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学术文献流转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08656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2708656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全流程概览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62984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4062984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申报简表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17312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417312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指南编写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71640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6771640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可研报告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25968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8125968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技术报告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480296" y="822960"/>
            <a:ext cx="1354328" cy="41148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20" name="Text 18"/>
          <p:cNvSpPr/>
          <p:nvPr/>
        </p:nvSpPr>
        <p:spPr>
          <a:xfrm>
            <a:off x="9480296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Demo原型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834624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10834624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成果展望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1234440"/>
            <a:ext cx="12188952" cy="0"/>
          </a:xfrm>
          <a:prstGeom prst="line">
            <a:avLst/>
          </a:prstGeom>
          <a:noFill/>
          <a:ln w="25400">
            <a:solidFill>
              <a:srgbClr val="3182C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1371600"/>
            <a:ext cx="11640312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1417320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3.5.1 AI代码生成五步法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1828800"/>
            <a:ext cx="2245766" cy="1371600"/>
          </a:xfrm>
          <a:prstGeom prst="rect">
            <a:avLst/>
          </a:prstGeom>
          <a:solidFill>
            <a:srgbClr val="F7FAFC"/>
          </a:solidFill>
          <a:ln w="25400">
            <a:solidFill>
              <a:srgbClr val="3182C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1920240"/>
            <a:ext cx="22457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182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需求描述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182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0040" y="2560320"/>
            <a:ext cx="215432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功能/交互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可视化要求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20086" y="2514600"/>
            <a:ext cx="73152" cy="0"/>
          </a:xfrm>
          <a:prstGeom prst="line">
            <a:avLst/>
          </a:prstGeom>
          <a:noFill/>
          <a:ln w="25400">
            <a:solidFill>
              <a:srgbClr val="3182C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47518" y="2478024"/>
            <a:ext cx="91440" cy="73152"/>
          </a:xfrm>
          <a:prstGeom prst="rect">
            <a:avLst/>
          </a:prstGeom>
          <a:solidFill>
            <a:srgbClr val="3182CE"/>
          </a:solidFill>
          <a:ln w="6350">
            <a:solidFill>
              <a:srgbClr val="3182C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5806" y="1828800"/>
            <a:ext cx="2245766" cy="1371600"/>
          </a:xfrm>
          <a:prstGeom prst="rect">
            <a:avLst/>
          </a:prstGeom>
          <a:solidFill>
            <a:srgbClr val="F7FAFC"/>
          </a:solidFill>
          <a:ln w="25400">
            <a:solidFill>
              <a:srgbClr val="D69E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5806" y="1920240"/>
            <a:ext cx="22457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AI代码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611526" y="2560320"/>
            <a:ext cx="215432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HTML/CSS/JS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Chart.js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11573" y="2514600"/>
            <a:ext cx="73152" cy="0"/>
          </a:xfrm>
          <a:prstGeom prst="line">
            <a:avLst/>
          </a:prstGeom>
          <a:noFill/>
          <a:ln w="25400">
            <a:solidFill>
              <a:srgbClr val="D69E2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39005" y="2478024"/>
            <a:ext cx="91440" cy="73152"/>
          </a:xfrm>
          <a:prstGeom prst="rect">
            <a:avLst/>
          </a:prstGeom>
          <a:solidFill>
            <a:srgbClr val="D69E2E"/>
          </a:solidFill>
          <a:ln w="6350">
            <a:solidFill>
              <a:srgbClr val="D69E2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57293" y="1828800"/>
            <a:ext cx="2245766" cy="1371600"/>
          </a:xfrm>
          <a:prstGeom prst="rect">
            <a:avLst/>
          </a:prstGeom>
          <a:solidFill>
            <a:srgbClr val="F7FAFC"/>
          </a:solidFill>
          <a:ln w="25400">
            <a:solidFill>
              <a:srgbClr val="31979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57293" y="1920240"/>
            <a:ext cx="22457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19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19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03013" y="2560320"/>
            <a:ext cx="215432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浏览器预览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交互测试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103059" y="2514600"/>
            <a:ext cx="73152" cy="0"/>
          </a:xfrm>
          <a:prstGeom prst="line">
            <a:avLst/>
          </a:prstGeom>
          <a:noFill/>
          <a:ln w="25400">
            <a:solidFill>
              <a:srgbClr val="31979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30491" y="2478024"/>
            <a:ext cx="91440" cy="73152"/>
          </a:xfrm>
          <a:prstGeom prst="rect">
            <a:avLst/>
          </a:prstGeom>
          <a:solidFill>
            <a:srgbClr val="319795"/>
          </a:solidFill>
          <a:ln w="6350">
            <a:solidFill>
              <a:srgbClr val="31979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48779" y="1828800"/>
            <a:ext cx="2245766" cy="1371600"/>
          </a:xfrm>
          <a:prstGeom prst="rect">
            <a:avLst/>
          </a:prstGeom>
          <a:solidFill>
            <a:srgbClr val="F7FAFC"/>
          </a:solidFill>
          <a:ln w="25400">
            <a:solidFill>
              <a:srgbClr val="3182C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48779" y="1920240"/>
            <a:ext cx="22457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182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182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194499" y="2560320"/>
            <a:ext cx="215432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调试/美化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功能完善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394546" y="2514600"/>
            <a:ext cx="73152" cy="0"/>
          </a:xfrm>
          <a:prstGeom prst="line">
            <a:avLst/>
          </a:prstGeom>
          <a:noFill/>
          <a:ln w="25400">
            <a:solidFill>
              <a:srgbClr val="3182C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421978" y="2478024"/>
            <a:ext cx="91440" cy="73152"/>
          </a:xfrm>
          <a:prstGeom prst="rect">
            <a:avLst/>
          </a:prstGeom>
          <a:solidFill>
            <a:srgbClr val="3182CE"/>
          </a:solidFill>
          <a:ln w="6350">
            <a:solidFill>
              <a:srgbClr val="3182C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440266" y="1828800"/>
            <a:ext cx="2245766" cy="1371600"/>
          </a:xfrm>
          <a:prstGeom prst="rect">
            <a:avLst/>
          </a:prstGeom>
          <a:solidFill>
            <a:srgbClr val="F7FAFC"/>
          </a:solidFill>
          <a:ln w="25400">
            <a:solidFill>
              <a:srgbClr val="38A16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440266" y="1920240"/>
            <a:ext cx="224576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A1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8A1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485986" y="2560320"/>
            <a:ext cx="215432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在线演示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文件分发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74320" y="3383280"/>
            <a:ext cx="5486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342900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182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IDP可视化系统（idp_v3.html）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57200" y="3749040"/>
            <a:ext cx="914400" cy="320040"/>
          </a:xfrm>
          <a:prstGeom prst="rect">
            <a:avLst>
              <a:gd name="adj" fmla="val 11429"/>
            </a:avLst>
          </a:prstGeom>
          <a:solidFill>
            <a:srgbClr val="F7FAFC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2920" y="3776472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12人数据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371600" y="3904488"/>
            <a:ext cx="73152" cy="0"/>
          </a:xfrm>
          <a:prstGeom prst="line">
            <a:avLst/>
          </a:prstGeom>
          <a:noFill/>
          <a:ln w="25400">
            <a:solidFill>
              <a:srgbClr val="3182C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399032" y="3867912"/>
            <a:ext cx="91440" cy="73152"/>
          </a:xfrm>
          <a:prstGeom prst="rect">
            <a:avLst/>
          </a:prstGeom>
          <a:solidFill>
            <a:srgbClr val="3182CE"/>
          </a:solidFill>
          <a:ln w="6350">
            <a:solidFill>
              <a:srgbClr val="3182C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463040" y="3749040"/>
            <a:ext cx="914400" cy="320040"/>
          </a:xfrm>
          <a:prstGeom prst="rect">
            <a:avLst>
              <a:gd name="adj" fmla="val 11429"/>
            </a:avLst>
          </a:prstGeom>
          <a:solidFill>
            <a:srgbClr val="F7FAFC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508760" y="3776472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技能雷达图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377440" y="3904488"/>
            <a:ext cx="73152" cy="0"/>
          </a:xfrm>
          <a:prstGeom prst="line">
            <a:avLst/>
          </a:prstGeom>
          <a:noFill/>
          <a:ln w="25400">
            <a:solidFill>
              <a:srgbClr val="3182C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404872" y="3867912"/>
            <a:ext cx="91440" cy="73152"/>
          </a:xfrm>
          <a:prstGeom prst="rect">
            <a:avLst/>
          </a:prstGeom>
          <a:solidFill>
            <a:srgbClr val="3182CE"/>
          </a:solidFill>
          <a:ln w="6350">
            <a:solidFill>
              <a:srgbClr val="3182C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468880" y="3749040"/>
            <a:ext cx="914400" cy="320040"/>
          </a:xfrm>
          <a:prstGeom prst="rect">
            <a:avLst>
              <a:gd name="adj" fmla="val 11429"/>
            </a:avLst>
          </a:prstGeom>
          <a:solidFill>
            <a:srgbClr val="F7FAFC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514600" y="3776472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发展路径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383280" y="3904488"/>
            <a:ext cx="73152" cy="0"/>
          </a:xfrm>
          <a:prstGeom prst="line">
            <a:avLst/>
          </a:prstGeom>
          <a:noFill/>
          <a:ln w="25400">
            <a:solidFill>
              <a:srgbClr val="3182C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410712" y="3867912"/>
            <a:ext cx="91440" cy="73152"/>
          </a:xfrm>
          <a:prstGeom prst="rect">
            <a:avLst/>
          </a:prstGeom>
          <a:solidFill>
            <a:srgbClr val="3182CE"/>
          </a:solidFill>
          <a:ln w="6350">
            <a:solidFill>
              <a:srgbClr val="3182C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474720" y="3749040"/>
            <a:ext cx="914400" cy="320040"/>
          </a:xfrm>
          <a:prstGeom prst="rect">
            <a:avLst>
              <a:gd name="adj" fmla="val 11429"/>
            </a:avLst>
          </a:prstGeom>
          <a:solidFill>
            <a:srgbClr val="F7FAFC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520440" y="3776472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目标追踪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389120" y="3904488"/>
            <a:ext cx="73152" cy="0"/>
          </a:xfrm>
          <a:prstGeom prst="line">
            <a:avLst/>
          </a:prstGeom>
          <a:noFill/>
          <a:ln w="25400">
            <a:solidFill>
              <a:srgbClr val="3182C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416552" y="3867912"/>
            <a:ext cx="91440" cy="73152"/>
          </a:xfrm>
          <a:prstGeom prst="rect">
            <a:avLst/>
          </a:prstGeom>
          <a:solidFill>
            <a:srgbClr val="3182CE"/>
          </a:solidFill>
          <a:ln w="6350">
            <a:solidFill>
              <a:srgbClr val="3182C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480560" y="3749040"/>
            <a:ext cx="914400" cy="320040"/>
          </a:xfrm>
          <a:prstGeom prst="rect">
            <a:avLst>
              <a:gd name="adj" fmla="val 11429"/>
            </a:avLst>
          </a:prstGeom>
          <a:solidFill>
            <a:srgbClr val="F7FAFC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26280" y="3776472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HTML周报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309360" y="3383280"/>
            <a:ext cx="51206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1979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00800" y="342900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19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周报自动化系统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6492240" y="3749040"/>
            <a:ext cx="822960" cy="320040"/>
          </a:xfrm>
          <a:prstGeom prst="rect">
            <a:avLst>
              <a:gd name="adj" fmla="val 11429"/>
            </a:avLst>
          </a:prstGeom>
          <a:solidFill>
            <a:srgbClr val="F7FAFC"/>
          </a:solidFill>
          <a:ln w="12700">
            <a:solidFill>
              <a:srgbClr val="31979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537960" y="3776472"/>
            <a:ext cx="7315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数据汇总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7315200" y="3904488"/>
            <a:ext cx="109728" cy="0"/>
          </a:xfrm>
          <a:prstGeom prst="line">
            <a:avLst/>
          </a:prstGeom>
          <a:noFill/>
          <a:ln w="25400">
            <a:solidFill>
              <a:srgbClr val="31979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79208" y="3867912"/>
            <a:ext cx="91440" cy="73152"/>
          </a:xfrm>
          <a:prstGeom prst="rect">
            <a:avLst/>
          </a:prstGeom>
          <a:solidFill>
            <a:srgbClr val="319795"/>
          </a:solidFill>
          <a:ln w="6350">
            <a:solidFill>
              <a:srgbClr val="31979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452360" y="3749040"/>
            <a:ext cx="822960" cy="320040"/>
          </a:xfrm>
          <a:prstGeom prst="rect">
            <a:avLst>
              <a:gd name="adj" fmla="val 11429"/>
            </a:avLst>
          </a:prstGeom>
          <a:solidFill>
            <a:srgbClr val="F7FAFC"/>
          </a:solidFill>
          <a:ln w="12700">
            <a:solidFill>
              <a:srgbClr val="31979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498080" y="3776472"/>
            <a:ext cx="7315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AI生成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8275320" y="3904488"/>
            <a:ext cx="109728" cy="0"/>
          </a:xfrm>
          <a:prstGeom prst="line">
            <a:avLst/>
          </a:prstGeom>
          <a:noFill/>
          <a:ln w="25400">
            <a:solidFill>
              <a:srgbClr val="319795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339328" y="3867912"/>
            <a:ext cx="91440" cy="73152"/>
          </a:xfrm>
          <a:prstGeom prst="rect">
            <a:avLst/>
          </a:prstGeom>
          <a:solidFill>
            <a:srgbClr val="319795"/>
          </a:solidFill>
          <a:ln w="6350">
            <a:solidFill>
              <a:srgbClr val="319795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412480" y="3749040"/>
            <a:ext cx="822960" cy="320040"/>
          </a:xfrm>
          <a:prstGeom prst="rect">
            <a:avLst>
              <a:gd name="adj" fmla="val 11429"/>
            </a:avLst>
          </a:prstGeom>
          <a:solidFill>
            <a:srgbClr val="F7FAFC"/>
          </a:solidFill>
          <a:ln w="12700">
            <a:solidFill>
              <a:srgbClr val="31979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458200" y="3776472"/>
            <a:ext cx="7315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HTML格式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9235440" y="3904488"/>
            <a:ext cx="109728" cy="0"/>
          </a:xfrm>
          <a:prstGeom prst="line">
            <a:avLst/>
          </a:prstGeom>
          <a:noFill/>
          <a:ln w="25400">
            <a:solidFill>
              <a:srgbClr val="319795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299448" y="3867912"/>
            <a:ext cx="91440" cy="73152"/>
          </a:xfrm>
          <a:prstGeom prst="rect">
            <a:avLst/>
          </a:prstGeom>
          <a:solidFill>
            <a:srgbClr val="319795"/>
          </a:solidFill>
          <a:ln w="6350">
            <a:solidFill>
              <a:srgbClr val="31979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372600" y="3749040"/>
            <a:ext cx="822960" cy="320040"/>
          </a:xfrm>
          <a:prstGeom prst="rect">
            <a:avLst>
              <a:gd name="adj" fmla="val 11429"/>
            </a:avLst>
          </a:prstGeom>
          <a:solidFill>
            <a:srgbClr val="F7FAFC"/>
          </a:solidFill>
          <a:ln w="12700">
            <a:solidFill>
              <a:srgbClr val="319795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418320" y="3776472"/>
            <a:ext cx="7315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邮件分发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10195560" y="3904488"/>
            <a:ext cx="109728" cy="0"/>
          </a:xfrm>
          <a:prstGeom prst="line">
            <a:avLst/>
          </a:prstGeom>
          <a:noFill/>
          <a:ln w="25400">
            <a:solidFill>
              <a:srgbClr val="31979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0259568" y="3867912"/>
            <a:ext cx="91440" cy="73152"/>
          </a:xfrm>
          <a:prstGeom prst="rect">
            <a:avLst/>
          </a:prstGeom>
          <a:solidFill>
            <a:srgbClr val="319795"/>
          </a:solidFill>
          <a:ln w="6350">
            <a:solidFill>
              <a:srgbClr val="319795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0332720" y="3749040"/>
            <a:ext cx="822960" cy="320040"/>
          </a:xfrm>
          <a:prstGeom prst="rect">
            <a:avLst>
              <a:gd name="adj" fmla="val 11429"/>
            </a:avLst>
          </a:prstGeom>
          <a:solidFill>
            <a:srgbClr val="F7FAFC"/>
          </a:solidFill>
          <a:ln w="12700">
            <a:solidFill>
              <a:srgbClr val="319795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0378440" y="3776472"/>
            <a:ext cx="7315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自动归档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274320" y="4389120"/>
            <a:ext cx="381914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65760" y="4480560"/>
            <a:ext cx="363626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182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AI应用场景</a:t>
            </a:r>
            <a:endParaRPr lang="en-US" sz="1200" dirty="0"/>
          </a:p>
        </p:txBody>
      </p:sp>
      <p:sp>
        <p:nvSpPr>
          <p:cNvPr id="91" name="Text 89"/>
          <p:cNvSpPr/>
          <p:nvPr/>
        </p:nvSpPr>
        <p:spPr>
          <a:xfrm>
            <a:off x="365760" y="4754880"/>
            <a:ext cx="363626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IDP可视化：个人发展路径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365760" y="5029200"/>
            <a:ext cx="363626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周报HTML自动分发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365760" y="5303520"/>
            <a:ext cx="363626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Chart.js动态图表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365760" y="5577840"/>
            <a:ext cx="363626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原型快速迭代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365760" y="5852160"/>
            <a:ext cx="363626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设计规范统一沉淀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4184904" y="4389120"/>
            <a:ext cx="381914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276344" y="4480560"/>
            <a:ext cx="363626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核心成果</a:t>
            </a:r>
            <a:endParaRPr lang="en-US" sz="1200" dirty="0"/>
          </a:p>
        </p:txBody>
      </p:sp>
      <p:sp>
        <p:nvSpPr>
          <p:cNvPr id="98" name="Text 96"/>
          <p:cNvSpPr/>
          <p:nvPr/>
        </p:nvSpPr>
        <p:spPr>
          <a:xfrm>
            <a:off x="4276344" y="4754880"/>
            <a:ext cx="363626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原型周期：2周→3天（↓85%）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4276344" y="5029200"/>
            <a:ext cx="363626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周报自动化：100%无人干预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4276344" y="5303520"/>
            <a:ext cx="363626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IDP系统：12人团队全覆盖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4276344" y="5577840"/>
            <a:ext cx="363626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AI工具：WorkBuddy+HTML/JS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8095488" y="4389120"/>
            <a:ext cx="381914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19795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8186928" y="4480560"/>
            <a:ext cx="363626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19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扩展AI应用</a:t>
            </a:r>
            <a:endParaRPr lang="en-US" sz="1200" dirty="0"/>
          </a:p>
        </p:txBody>
      </p:sp>
      <p:sp>
        <p:nvSpPr>
          <p:cNvPr id="104" name="Text 102"/>
          <p:cNvSpPr/>
          <p:nvPr/>
        </p:nvSpPr>
        <p:spPr>
          <a:xfrm>
            <a:off x="8186928" y="4754880"/>
            <a:ext cx="363626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19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交互式Demo：用户测试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8186928" y="5029200"/>
            <a:ext cx="363626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19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在线评审：远程协作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8186928" y="5303520"/>
            <a:ext cx="363626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19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多端适配：PC/移动端</a:t>
            </a:r>
            <a:endParaRPr lang="en-US" sz="900" dirty="0"/>
          </a:p>
        </p:txBody>
      </p:sp>
      <p:sp>
        <p:nvSpPr>
          <p:cNvPr id="107" name="Text 105"/>
          <p:cNvSpPr/>
          <p:nvPr/>
        </p:nvSpPr>
        <p:spPr>
          <a:xfrm>
            <a:off x="8186928" y="5577840"/>
            <a:ext cx="363626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19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组件市场：通用库复用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274320" y="6355080"/>
            <a:ext cx="11640312" cy="365760"/>
          </a:xfrm>
          <a:prstGeom prst="rect">
            <a:avLst/>
          </a:prstGeom>
          <a:solidFill>
            <a:srgbClr val="FED7D7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57200" y="6419088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AI前端原型效果最好，复杂业务逻辑仍需调试；HTML周报格式是邮件分发的最佳实践。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1164031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核心成果数据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475488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3B3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效率提升与质量改善量化指标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知识库构建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54328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1354328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学术文献流转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08656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2708656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全流程概览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62984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4062984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申报简表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17312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417312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指南编写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71640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6771640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可研报告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25968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8125968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技术报告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480296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9480296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Demo原型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834624" y="822960"/>
            <a:ext cx="1354328" cy="41148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22" name="Text 20"/>
          <p:cNvSpPr/>
          <p:nvPr/>
        </p:nvSpPr>
        <p:spPr>
          <a:xfrm>
            <a:off x="10834624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成果展望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1234440"/>
            <a:ext cx="12188952" cy="0"/>
          </a:xfrm>
          <a:prstGeom prst="line">
            <a:avLst/>
          </a:prstGeom>
          <a:noFill/>
          <a:ln w="25400">
            <a:solidFill>
              <a:srgbClr val="3182C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1371600"/>
            <a:ext cx="11640312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1417320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五大核心KPI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1828800"/>
            <a:ext cx="2057400" cy="1371600"/>
          </a:xfrm>
          <a:prstGeom prst="rect">
            <a:avLst/>
          </a:prstGeom>
          <a:solidFill>
            <a:srgbClr val="F7FAFC"/>
          </a:solidFill>
          <a:ln w="25400">
            <a:solidFill>
              <a:srgbClr val="D69E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19659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10x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274320" y="24688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技术报告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74320" y="274320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生成效率提升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78608" y="1828800"/>
            <a:ext cx="2057400" cy="1371600"/>
          </a:xfrm>
          <a:prstGeom prst="rect">
            <a:avLst/>
          </a:prstGeom>
          <a:solidFill>
            <a:srgbClr val="F7FAFC"/>
          </a:solidFill>
          <a:ln w="25400">
            <a:solidFill>
              <a:srgbClr val="3182C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78608" y="19659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182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83%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2578608" y="24688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申报简表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578608" y="274320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起草时间缩短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82896" y="1828800"/>
            <a:ext cx="2057400" cy="1371600"/>
          </a:xfrm>
          <a:prstGeom prst="rect">
            <a:avLst/>
          </a:prstGeom>
          <a:solidFill>
            <a:srgbClr val="F7FAFC"/>
          </a:solidFill>
          <a:ln w="25400">
            <a:solidFill>
              <a:srgbClr val="31979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82896" y="19659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19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5x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4882896" y="24688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指南编写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82896" y="274320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编写效率提升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187184" y="1828800"/>
            <a:ext cx="2057400" cy="1371600"/>
          </a:xfrm>
          <a:prstGeom prst="rect">
            <a:avLst/>
          </a:prstGeom>
          <a:solidFill>
            <a:srgbClr val="F7FAFC"/>
          </a:solidFill>
          <a:ln w="25400">
            <a:solidFill>
              <a:srgbClr val="D69E2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87184" y="19659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7x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7187184" y="24688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可研报告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187184" y="274320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生成效率提升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9491472" y="1828800"/>
            <a:ext cx="2057400" cy="1371600"/>
          </a:xfrm>
          <a:prstGeom prst="rect">
            <a:avLst/>
          </a:prstGeom>
          <a:solidFill>
            <a:srgbClr val="F7FAFC"/>
          </a:solidFill>
          <a:ln w="25400">
            <a:solidFill>
              <a:srgbClr val="3182C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491472" y="19659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182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85%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9491472" y="24688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Demo原型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491472" y="274320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开发周期缩短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74320" y="3474720"/>
            <a:ext cx="1164031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3566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各环节效率对比详表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931920"/>
          <a:ext cx="1127455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1463040"/>
                <a:gridCol w="1188720"/>
                <a:gridCol w="1463040"/>
                <a:gridCol w="22860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环节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传统模式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AI辅助模式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效率提升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质量改善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扩展潜力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申报简表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2-3天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0.5天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↓83%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通过率80%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智能查重+评审模拟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指南编写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1-2天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↑5x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对齐度95%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A/B测试+自动评审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可研报告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2天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↑7x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图表22张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模板复用+自动校审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技术报告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1-2天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↑10x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140规则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知识复用+规则发现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Demo原型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3天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↑85%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交互可视化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组件市场+在线评审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1164031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 实践心得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475488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3B3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6条核心经验总结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知识库构建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54328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1354328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学术文献流转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08656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2708656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全流程概览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62984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4062984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申报简表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17312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417312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指南编写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71640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6771640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可研报告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25968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8125968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技术报告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480296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9480296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Demo原型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834624" y="822960"/>
            <a:ext cx="1354328" cy="41148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22" name="Text 20"/>
          <p:cNvSpPr/>
          <p:nvPr/>
        </p:nvSpPr>
        <p:spPr>
          <a:xfrm>
            <a:off x="10834624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成果展望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1234440"/>
            <a:ext cx="12188952" cy="0"/>
          </a:xfrm>
          <a:prstGeom prst="line">
            <a:avLst/>
          </a:prstGeom>
          <a:noFill/>
          <a:ln w="25400">
            <a:solidFill>
              <a:srgbClr val="3182C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1371600"/>
            <a:ext cx="11640312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1417320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4.2.1 六条核心经验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1828800"/>
            <a:ext cx="3566160" cy="1920240"/>
          </a:xfrm>
          <a:prstGeom prst="rect">
            <a:avLst/>
          </a:prstGeom>
          <a:solidFill>
            <a:srgbClr val="F7FAFC"/>
          </a:solidFill>
          <a:ln w="25400">
            <a:solidFill>
              <a:srgbClr val="D69E2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1828800"/>
            <a:ext cx="548640" cy="45720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18745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440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脚本化 &gt; 对话式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65760" y="237744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一次编写脚本可多次复用迭代，效率远超逐轮对话。docx-js/PptxGenJS脚本化生成是效率倍增的关键。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0" y="1828800"/>
            <a:ext cx="3566160" cy="1920240"/>
          </a:xfrm>
          <a:prstGeom prst="rect">
            <a:avLst/>
          </a:prstGeom>
          <a:solidFill>
            <a:srgbClr val="F7FAFC"/>
          </a:solidFill>
          <a:ln w="25400">
            <a:solidFill>
              <a:srgbClr val="3182C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0" y="1828800"/>
            <a:ext cx="548640" cy="457200"/>
          </a:xfrm>
          <a:prstGeom prst="rect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0" y="18745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75488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知识库是核心基础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206240" y="237744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AI知识生产基础库（中国科技云+Bing学术）是所有工作的前提，双路径采集确保知识质量与覆盖面。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955280" y="1828800"/>
            <a:ext cx="3566160" cy="1920240"/>
          </a:xfrm>
          <a:prstGeom prst="rect">
            <a:avLst/>
          </a:prstGeom>
          <a:solidFill>
            <a:srgbClr val="F7FAFC"/>
          </a:solidFill>
          <a:ln w="25400">
            <a:solidFill>
              <a:srgbClr val="31979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55280" y="1828800"/>
            <a:ext cx="548640" cy="457200"/>
          </a:xfrm>
          <a:prstGeom prst="rect">
            <a:avLst/>
          </a:prstGeom>
          <a:solidFill>
            <a:srgbClr val="319795"/>
          </a:solidFill>
          <a:ln w="12700">
            <a:solidFill>
              <a:srgbClr val="31979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55280" y="18745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59536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模板库是关键前提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046720" y="237744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历史材料沉淀越丰富，AI生成效果越好，质量越稳定。IMA知识库的模板复用率已达70%以上。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" y="4023360"/>
            <a:ext cx="3566160" cy="1920240"/>
          </a:xfrm>
          <a:prstGeom prst="rect">
            <a:avLst/>
          </a:prstGeom>
          <a:solidFill>
            <a:srgbClr val="F7FAFC"/>
          </a:solidFill>
          <a:ln w="25400">
            <a:solidFill>
              <a:srgbClr val="D69E2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" y="4023360"/>
            <a:ext cx="548640" cy="45720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069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914400" y="4114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数据→图表→文字全链路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65760" y="457200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从原始数据到分析报告的全自动化是最大突破点。matplotlib图表嵌入+docx-js文字编排形成完整闭环。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114800" y="4023360"/>
            <a:ext cx="3566160" cy="1920240"/>
          </a:xfrm>
          <a:prstGeom prst="rect">
            <a:avLst/>
          </a:prstGeom>
          <a:solidFill>
            <a:srgbClr val="F7FAFC"/>
          </a:solidFill>
          <a:ln w="25400">
            <a:solidFill>
              <a:srgbClr val="3182C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114800" y="4023360"/>
            <a:ext cx="548640" cy="457200"/>
          </a:xfrm>
          <a:prstGeom prst="rect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0" y="4069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4754880" y="4114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人工审核不可少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206240" y="457200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政策合规、技术深度、核心创新点必须专家把关。AI辅助可覆盖80%基础内容，20%核心需人工。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955280" y="4023360"/>
            <a:ext cx="3566160" cy="1920240"/>
          </a:xfrm>
          <a:prstGeom prst="rect">
            <a:avLst/>
          </a:prstGeom>
          <a:solidFill>
            <a:srgbClr val="F7FAFC"/>
          </a:solidFill>
          <a:ln w="25400">
            <a:solidFill>
              <a:srgbClr val="31979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955280" y="4023360"/>
            <a:ext cx="548640" cy="457200"/>
          </a:xfrm>
          <a:prstGeom prst="rect">
            <a:avLst/>
          </a:prstGeom>
          <a:solidFill>
            <a:srgbClr val="319795"/>
          </a:solidFill>
          <a:ln w="12700">
            <a:solidFill>
              <a:srgbClr val="31979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55280" y="4069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8595360" y="4114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前端原型效果最好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8046720" y="457200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HTML/CSS/JS可视化组件是AI代码生成质量最高的领域。IDP系统和周报自动化是典型成功案例。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74320" y="6217920"/>
            <a:ext cx="11640312" cy="45720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6291072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"真正的变化不是工具，而是工作流的重新定义"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1164031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 规划展望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475488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3B3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三阶段深化路径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知识库构建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54328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1354328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学术文献流转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08656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2708656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全流程概览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62984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4062984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申报简表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17312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417312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指南编写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71640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6771640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可研报告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25968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8125968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技术报告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480296" y="822960"/>
            <a:ext cx="1354328" cy="4114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9480296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Demo原型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834624" y="822960"/>
            <a:ext cx="1354328" cy="41148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22" name="Text 20"/>
          <p:cNvSpPr/>
          <p:nvPr/>
        </p:nvSpPr>
        <p:spPr>
          <a:xfrm>
            <a:off x="10834624" y="868680"/>
            <a:ext cx="1354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成果展望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1234440"/>
            <a:ext cx="12188952" cy="0"/>
          </a:xfrm>
          <a:prstGeom prst="line">
            <a:avLst/>
          </a:prstGeom>
          <a:noFill/>
          <a:ln w="25400">
            <a:solidFill>
              <a:srgbClr val="3182C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1371600"/>
            <a:ext cx="11640312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1417320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4.3.1 三阶段深化路径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1828800"/>
            <a:ext cx="3566160" cy="3200400"/>
          </a:xfrm>
          <a:prstGeom prst="rect">
            <a:avLst/>
          </a:prstGeom>
          <a:solidFill>
            <a:srgbClr val="F7FAFC"/>
          </a:solidFill>
          <a:ln w="25400">
            <a:solidFill>
              <a:srgbClr val="3182C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1828800"/>
            <a:ext cx="3566160" cy="457200"/>
          </a:xfrm>
          <a:prstGeom prst="rect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190195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深化阶段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74320" y="23317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182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Q3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27432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可研报告脚本全面标准化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3200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PPT生成脚本模板库建设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36576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技术报告自动生成优化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41148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知识库双路径全面接入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5720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申报简表智能查重上线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114800" y="1828800"/>
            <a:ext cx="3566160" cy="3200400"/>
          </a:xfrm>
          <a:prstGeom prst="rect">
            <a:avLst/>
          </a:prstGeom>
          <a:solidFill>
            <a:srgbClr val="F7FAFC"/>
          </a:solidFill>
          <a:ln w="25400">
            <a:solidFill>
              <a:srgbClr val="31979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0" y="1828800"/>
            <a:ext cx="3566160" cy="457200"/>
          </a:xfrm>
          <a:prstGeom prst="rect">
            <a:avLst/>
          </a:prstGeom>
          <a:solidFill>
            <a:srgbClr val="319795"/>
          </a:solidFill>
          <a:ln w="12700">
            <a:solidFill>
              <a:srgbClr val="31979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0" y="190195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拓展阶段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114800" y="23317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19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Q4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297680" y="27432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跨项目知识库互联互通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297680" y="3200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团队AI能力培训体系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297680" y="36576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多区域项目协同模板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297680" y="41148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智能评审辅助工具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297680" y="45720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指南编写自动评审系统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955280" y="1828800"/>
            <a:ext cx="3566160" cy="3200400"/>
          </a:xfrm>
          <a:prstGeom prst="rect">
            <a:avLst/>
          </a:prstGeom>
          <a:solidFill>
            <a:srgbClr val="F7FAFC"/>
          </a:solidFill>
          <a:ln w="25400">
            <a:solidFill>
              <a:srgbClr val="D69E2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955280" y="1828800"/>
            <a:ext cx="3566160" cy="45720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955280" y="190195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固化阶段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955280" y="23317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138160" y="27432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全流程自动化流水线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138160" y="3200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AI辅助决策支持系统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138160" y="36576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知识资产持续沉淀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138160" y="41148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团队AI成熟度评估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138160" y="45720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行业最佳实践输出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371600" y="5303520"/>
            <a:ext cx="10360152" cy="0"/>
          </a:xfrm>
          <a:prstGeom prst="line">
            <a:avLst/>
          </a:prstGeom>
          <a:noFill/>
          <a:ln w="25400">
            <a:solidFill>
              <a:srgbClr val="3182C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286000" y="5166360"/>
            <a:ext cx="274320" cy="274320"/>
          </a:xfrm>
          <a:prstGeom prst="rect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011680" y="54864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Q3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486400" y="5166360"/>
            <a:ext cx="274320" cy="274320"/>
          </a:xfrm>
          <a:prstGeom prst="rect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12080" y="54864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Q4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8686800" y="5166360"/>
            <a:ext cx="274320" cy="274320"/>
          </a:xfrm>
          <a:prstGeom prst="rect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412480" y="54864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B3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电网科创业务中心 · AI实践持续推进中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28800" y="1828800"/>
            <a:ext cx="8531352" cy="3200400"/>
          </a:xfrm>
          <a:prstGeom prst="rect">
            <a:avLst/>
          </a:prstGeom>
          <a:solidFill>
            <a:srgbClr val="F7FA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2103120"/>
            <a:ext cx="76169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核心总结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560320" y="2651760"/>
            <a:ext cx="706831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AI知识生产基础库：中国科技云+Bing学术双路径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60320" y="3063240"/>
            <a:ext cx="706831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学术文献智能流转：效率提升10倍，100%自动入库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0" y="3474720"/>
            <a:ext cx="706831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5大环节AI应用：申报→指南→可研→技术→Demo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0" y="3886200"/>
            <a:ext cx="706831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效率提升：最高10倍，平均5-7倍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4297680"/>
            <a:ext cx="706831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核心心得：脚本化&gt;对话式，知识库是核心基础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0320" y="4709160"/>
            <a:ext cx="706831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未来规划：深化→拓展→固化三阶段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5486400"/>
            <a:ext cx="11274552" cy="0"/>
          </a:xfrm>
          <a:prstGeom prst="line">
            <a:avLst/>
          </a:prstGeom>
          <a:noFill/>
          <a:ln w="25400">
            <a:solidFill>
              <a:srgbClr val="3182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56692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182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AI知识生产基础库 → WorkBuddy × IMA 联动方案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科技项目全流程AI应用实践与心得</dc:title>
  <dc:subject>PptxGenJS Presentation</dc:subject>
  <dc:creator>科创业务中心</dc:creator>
  <cp:lastModifiedBy>科创业务中心</cp:lastModifiedBy>
  <cp:revision>1</cp:revision>
  <dcterms:created xsi:type="dcterms:W3CDTF">2026-06-07T09:57:31Z</dcterms:created>
  <dcterms:modified xsi:type="dcterms:W3CDTF">2026-06-07T09:57:31Z</dcterms:modified>
</cp:coreProperties>
</file>